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21537b3-a221-bf08-29a1-407a6a664f7e}">
          <p14:sldIdLst>
            <p14:sldId id="256"/>
            <p14:sldId id="257"/>
            <p14:sldId id="258"/>
            <p14:sldId id="259"/>
          </p14:sldIdLst>
        </p14:section>
        <p14:section name="Method" id="{65c85b2c-5c27-d93a-3071-eb3c869ef81d}">
          <p14:sldIdLst>
            <p14:sldId id="260"/>
            <p14:sldId id="261"/>
          </p14:sldIdLst>
        </p14:section>
        <p14:section name="Analysis" id="{470e8261-c85e-617c-25c6-9335e80d9f00}">
          <p14:sldIdLst>
            <p14:sldId id="262"/>
            <p14:sldId id="263"/>
            <p14:sldId id="264"/>
          </p14:sldIdLst>
        </p14:section>
        <p14:section name="Conclusion" id="{090d0034-ad9c-cf9e-907d-861bcaac30e5}">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Placeholder</c:v>
                </c:pt>
              </c:strCache>
            </c:strRef>
          </c:tx>
          <c:spPr>
            <a:solidFill>
              <a:srgbClr val="B9CAD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Facility A</c:v>
                  </c:pt>
                  <c:pt idx="1">
                    <c:v>Facility B</c:v>
                  </c:pt>
                  <c:pt idx="2">
                    <c:v>Facility C</c:v>
                  </c:pt>
                  <c:pt idx="3">
                    <c:v>Facility D</c:v>
                  </c:pt>
                  <c:pt idx="4">
                    <c:v>Facility E</c:v>
                  </c:pt>
                </c:lvl>
              </c:multiLvlStrCache>
            </c:multiLvlStrRef>
          </c:cat>
          <c:val>
            <c:numRef>
              <c:f>Sheet1!$B$2:$B$6</c:f>
              <c:numCache>
                <c:formatCode>General</c:formatCode>
                <c:ptCount val="5"/>
                <c:pt idx="0">
                  <c:v>1</c:v>
                </c:pt>
                <c:pt idx="1">
                  <c:v>1</c:v>
                </c:pt>
                <c:pt idx="2">
                  <c:v>1</c:v>
                </c:pt>
                <c:pt idx="3">
                  <c:v>1</c:v>
                </c:pt>
                <c:pt idx="4">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title>
          <c:tx>
            <c:rich>
              <a:bodyPr/>
              <a:lstStyle/>
              <a:p>
                <a:pPr>
                  <a:defRPr sz="1000" b="0" i="0" u="none" strike="noStrike">
                    <a:solidFill>
                      <a:srgbClr val="5B6B7C"/>
                    </a:solidFill>
                    <a:latin typeface="+mn-lt"/>
                  </a:defRPr>
                </a:pPr>
                <a:r>
                  <a:rPr sz="1000" b="0" i="0" u="none" strike="noStrike">
                    <a:solidFill>
                      <a:srgbClr val="5B6B7C"/>
                    </a:solidFill>
                    <a:latin typeface="+mn-lt"/>
                  </a:rPr>
                  <a:t>Facility</a:t>
                </a:r>
              </a:p>
            </c:rich>
          </c:tx>
          <c:layout/>
          <c:overlay val="0"/>
        </c:title>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B7C"/>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b"/>
        <c:majorGridlines>
          <c:spPr>
            <a:ln w="9525" cap="flat">
              <a:solidFill>
                <a:srgbClr val="E3ECF4"/>
              </a:solidFill>
              <a:prstDash val="solid"/>
              <a:round/>
            </a:ln>
          </c:spPr>
        </c:majorGridlines>
        <c:title>
          <c:tx>
            <c:rich>
              <a:bodyPr/>
              <a:lstStyle/>
              <a:p>
                <a:pPr>
                  <a:defRPr sz="1000" b="0" i="0" u="none" strike="noStrike">
                    <a:solidFill>
                      <a:srgbClr val="5B6B7C"/>
                    </a:solidFill>
                    <a:latin typeface="+mn-lt"/>
                  </a:defRPr>
                </a:pPr>
                <a:r>
                  <a:rPr sz="1000" b="0" i="0" u="none" strike="noStrike">
                    <a:solidFill>
                      <a:srgbClr val="5B6B7C"/>
                    </a:solidFill>
                    <a:latin typeface="+mn-lt"/>
                  </a:rPr>
                  <a:t>Average utilization (%)</a:t>
                </a:r>
              </a:p>
            </c:rich>
          </c:tx>
          <c:layout/>
          <c:overlay val="0"/>
        </c:title>
        <c:numFmt formatCode=";;;"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Placeholder</c:v>
                </c:pt>
              </c:strCache>
            </c:strRef>
          </c:tx>
          <c:spPr>
            <a:solidFill>
              <a:srgbClr val="B9CADB"/>
            </a:solidFill>
            <a:ln w="25400" cap="flat">
              <a:solidFill>
                <a:srgbClr val="B9CA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B9CADB"/>
              </a:solidFill>
              <a:ln w="9525" cap="flat">
                <a:solidFill>
                  <a:srgbClr val="B9CADB"/>
                </a:solidFill>
                <a:prstDash val="solid"/>
                <a:round/>
              </a:ln>
              <a:effectLst/>
            </c:spPr>
          </c:marker>
          <c:cat>
            <c:multiLvlStrRef>
              <c:f>Sheet1!$A$2:$A$7</c:f>
              <c:multiLvlStrCache>
                <c:ptCount val="6"/>
                <c:lvl>
                  <c:pt idx="0">
                    <c:v>08</c:v>
                  </c:pt>
                  <c:pt idx="1">
                    <c:v>10</c:v>
                  </c:pt>
                  <c:pt idx="2">
                    <c:v>12</c:v>
                  </c:pt>
                  <c:pt idx="3">
                    <c:v>14</c:v>
                  </c:pt>
                  <c:pt idx="4">
                    <c:v>16</c:v>
                  </c:pt>
                  <c:pt idx="5">
                    <c:v>18</c:v>
                  </c:pt>
                </c:lvl>
              </c:multiLvlStrCache>
            </c:multiLvlStrRef>
          </c:cat>
          <c:val>
            <c:numRef>
              <c:f>Sheet1!$B$2:$B$7</c:f>
              <c:numCache>
                <c:formatCode>General</c:formatCode>
                <c:ptCount val="6"/>
                <c:pt idx="0">
                  <c:v>1</c:v>
                </c:pt>
                <c:pt idx="1">
                  <c:v>1</c:v>
                </c:pt>
                <c:pt idx="2">
                  <c:v>1</c:v>
                </c:pt>
                <c:pt idx="3">
                  <c:v>1</c:v>
                </c:pt>
                <c:pt idx="4">
                  <c:v>1</c:v>
                </c:pt>
                <c:pt idx="5">
                  <c:v>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B6B7C"/>
                    </a:solidFill>
                    <a:latin typeface="+mn-lt"/>
                  </a:defRPr>
                </a:pPr>
                <a:r>
                  <a:rPr sz="1000" b="0" i="0" u="none" strike="noStrike">
                    <a:solidFill>
                      <a:srgbClr val="5B6B7C"/>
                    </a:solidFill>
                    <a:latin typeface="+mn-lt"/>
                  </a:rPr>
                  <a:t>Hour of day</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C"/>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E3ECF4"/>
              </a:solidFill>
              <a:prstDash val="solid"/>
              <a:round/>
            </a:ln>
          </c:spPr>
        </c:majorGridlines>
        <c:title>
          <c:tx>
            <c:rich>
              <a:bodyPr/>
              <a:lstStyle/>
              <a:p>
                <a:pPr>
                  <a:defRPr sz="1000" b="0" i="0" u="none" strike="noStrike">
                    <a:solidFill>
                      <a:srgbClr val="5B6B7C"/>
                    </a:solidFill>
                    <a:latin typeface="+mn-lt"/>
                  </a:defRPr>
                </a:pPr>
                <a:r>
                  <a:rPr sz="1000" b="0" i="0" u="none" strike="noStrike">
                    <a:solidFill>
                      <a:srgbClr val="5B6B7C"/>
                    </a:solidFill>
                    <a:latin typeface="+mn-lt"/>
                  </a:rPr>
                  <a:t>Average utilization (%)</a:t>
                </a:r>
              </a:p>
            </c:rich>
          </c:tx>
          <c:layout/>
          <c:overlay val="0"/>
        </c:title>
        <c:numFmt formatCode=";;;"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Placeholder</c:v>
                </c:pt>
              </c:strCache>
            </c:strRef>
          </c:tx>
          <c:spPr>
            <a:solidFill>
              <a:srgbClr val="B9CAD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Room A</c:v>
                  </c:pt>
                  <c:pt idx="1">
                    <c:v>Room B</c:v>
                  </c:pt>
                  <c:pt idx="2">
                    <c:v>Room C</c:v>
                  </c:pt>
                  <c:pt idx="3">
                    <c:v>Room D</c:v>
                  </c:pt>
                </c:lvl>
              </c:multiLvlStrCache>
            </c:multiLvlStrRef>
          </c:cat>
          <c:val>
            <c:numRef>
              <c:f>Sheet1!$B$2:$B$5</c:f>
              <c:numCache>
                <c:formatCode>General</c:formatCode>
                <c:ptCount val="4"/>
                <c:pt idx="0">
                  <c:v>1</c:v>
                </c:pt>
                <c:pt idx="1">
                  <c:v>1</c:v>
                </c:pt>
                <c:pt idx="2">
                  <c:v>1</c:v>
                </c:pt>
                <c:pt idx="3">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title>
          <c:tx>
            <c:rich>
              <a:bodyPr/>
              <a:lstStyle/>
              <a:p>
                <a:pPr>
                  <a:defRPr sz="1000" b="0" i="0" u="none" strike="noStrike">
                    <a:solidFill>
                      <a:srgbClr val="5B6B7C"/>
                    </a:solidFill>
                    <a:latin typeface="+mn-lt"/>
                  </a:defRPr>
                </a:pPr>
                <a:r>
                  <a:rPr sz="1000" b="0" i="0" u="none" strike="noStrike">
                    <a:solidFill>
                      <a:srgbClr val="5B6B7C"/>
                    </a:solidFill>
                    <a:latin typeface="+mn-lt"/>
                  </a:rPr>
                  <a:t>Facility</a:t>
                </a:r>
              </a:p>
            </c:rich>
          </c:tx>
          <c:layout/>
          <c:overlay val="0"/>
        </c:title>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B7C"/>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b"/>
        <c:majorGridlines>
          <c:spPr>
            <a:ln w="9525" cap="flat">
              <a:solidFill>
                <a:srgbClr val="E3ECF4"/>
              </a:solidFill>
              <a:prstDash val="solid"/>
              <a:round/>
            </a:ln>
          </c:spPr>
        </c:majorGridlines>
        <c:title>
          <c:tx>
            <c:rich>
              <a:bodyPr/>
              <a:lstStyle/>
              <a:p>
                <a:pPr>
                  <a:defRPr sz="1000" b="0" i="0" u="none" strike="noStrike">
                    <a:solidFill>
                      <a:srgbClr val="5B6B7C"/>
                    </a:solidFill>
                    <a:latin typeface="+mn-lt"/>
                  </a:defRPr>
                </a:pPr>
                <a:r>
                  <a:rPr sz="1000" b="0" i="0" u="none" strike="noStrike">
                    <a:solidFill>
                      <a:srgbClr val="5B6B7C"/>
                    </a:solidFill>
                    <a:latin typeface="+mn-lt"/>
                  </a:rPr>
                  <a:t>Average utilization (%)</a:t>
                </a:r>
              </a:p>
            </c:rich>
          </c:tx>
          <c:layout/>
          <c:overlay val="0"/>
        </c:title>
        <c:numFmt formatCode=";;;"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Placeholder</c:v>
                </c:pt>
              </c:strCache>
            </c:strRef>
          </c:tx>
          <c:spPr>
            <a:solidFill>
              <a:srgbClr val="B9CAD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Exam period</c:v>
                  </c:pt>
                  <c:pt idx="1">
                    <c:v>Non-exam period</c:v>
                  </c:pt>
                </c:lvl>
              </c:multiLvlStrCache>
            </c:multiLvlStrRef>
          </c:cat>
          <c:val>
            <c:numRef>
              <c:f>Sheet1!$B$2:$B$3</c:f>
              <c:numCache>
                <c:formatCode>General</c:formatCode>
                <c:ptCount val="2"/>
                <c:pt idx="0">
                  <c:v>1</c:v>
                </c:pt>
                <c:pt idx="1">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E3ECF4"/>
              </a:solidFill>
              <a:prstDash val="solid"/>
              <a:round/>
            </a:ln>
          </c:spPr>
        </c:majorGridlines>
        <c:title>
          <c:tx>
            <c:rich>
              <a:bodyPr/>
              <a:lstStyle/>
              <a:p>
                <a:pPr>
                  <a:defRPr sz="1000" b="0" i="0" u="none" strike="noStrike">
                    <a:solidFill>
                      <a:srgbClr val="5B6B7C"/>
                    </a:solidFill>
                    <a:latin typeface="+mn-lt"/>
                  </a:defRPr>
                </a:pPr>
                <a:r>
                  <a:rPr sz="1000" b="0" i="0" u="none" strike="noStrike">
                    <a:solidFill>
                      <a:srgbClr val="5B6B7C"/>
                    </a:solidFill>
                    <a:latin typeface="+mn-lt"/>
                  </a:rPr>
                  <a:t>Average utilization (%)</a:t>
                </a:r>
              </a:p>
            </c:rich>
          </c:tx>
          <c:layout/>
          <c:overlay val="0"/>
        </c:title>
        <c:numFmt formatCode=";;;"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Placeholder</c:v>
                </c:pt>
              </c:strCache>
            </c:strRef>
          </c:tx>
          <c:spPr>
            <a:solidFill>
              <a:srgbClr val="B9CAD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Facility A</c:v>
                  </c:pt>
                  <c:pt idx="1">
                    <c:v>Facility B</c:v>
                  </c:pt>
                  <c:pt idx="2">
                    <c:v>Facility C</c:v>
                  </c:pt>
                  <c:pt idx="3">
                    <c:v>Facility D</c:v>
                  </c:pt>
                  <c:pt idx="4">
                    <c:v>Facility E</c:v>
                  </c:pt>
                </c:lvl>
              </c:multiLvlStrCache>
            </c:multiLvlStrRef>
          </c:cat>
          <c:val>
            <c:numRef>
              <c:f>Sheet1!$B$2:$B$6</c:f>
              <c:numCache>
                <c:formatCode>General</c:formatCode>
                <c:ptCount val="5"/>
                <c:pt idx="0">
                  <c:v>1</c:v>
                </c:pt>
                <c:pt idx="1">
                  <c:v>1</c:v>
                </c:pt>
                <c:pt idx="2">
                  <c:v>1</c:v>
                </c:pt>
                <c:pt idx="3">
                  <c:v>1</c:v>
                </c:pt>
                <c:pt idx="4">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title>
          <c:tx>
            <c:rich>
              <a:bodyPr/>
              <a:lstStyle/>
              <a:p>
                <a:pPr>
                  <a:defRPr sz="1000" b="0" i="0" u="none" strike="noStrike">
                    <a:solidFill>
                      <a:srgbClr val="5B6B7C"/>
                    </a:solidFill>
                    <a:latin typeface="+mn-lt"/>
                  </a:defRPr>
                </a:pPr>
                <a:r>
                  <a:rPr sz="1000" b="0" i="0" u="none" strike="noStrike">
                    <a:solidFill>
                      <a:srgbClr val="5B6B7C"/>
                    </a:solidFill>
                    <a:latin typeface="+mn-lt"/>
                  </a:rPr>
                  <a:t>Facility</a:t>
                </a:r>
              </a:p>
            </c:rich>
          </c:tx>
          <c:layout/>
          <c:overlay val="0"/>
        </c:title>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B7C"/>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b"/>
        <c:majorGridlines>
          <c:spPr>
            <a:ln w="9525" cap="flat">
              <a:solidFill>
                <a:srgbClr val="E3ECF4"/>
              </a:solidFill>
              <a:prstDash val="solid"/>
              <a:round/>
            </a:ln>
          </c:spPr>
        </c:majorGridlines>
        <c:title>
          <c:tx>
            <c:rich>
              <a:bodyPr/>
              <a:lstStyle/>
              <a:p>
                <a:pPr>
                  <a:defRPr sz="1000" b="0" i="0" u="none" strike="noStrike">
                    <a:solidFill>
                      <a:srgbClr val="5B6B7C"/>
                    </a:solidFill>
                    <a:latin typeface="+mn-lt"/>
                  </a:defRPr>
                </a:pPr>
                <a:r>
                  <a:rPr sz="1000" b="0" i="0" u="none" strike="noStrike">
                    <a:solidFill>
                      <a:srgbClr val="5B6B7C"/>
                    </a:solidFill>
                    <a:latin typeface="+mn-lt"/>
                  </a:rPr>
                  <a:t>Maintenance records (count)</a:t>
                </a:r>
              </a:p>
            </c:rich>
          </c:tx>
          <c:layout/>
          <c:overlay val="0"/>
        </c:title>
        <c:numFmt formatCode=";;;"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Placeholder points</c:v>
                </c:pt>
              </c:strCache>
            </c:strRef>
          </c:tx>
          <c:spPr>
            <a:solidFill>
              <a:srgbClr val="B9CADB"/>
            </a:solidFill>
            <a:ln>
              <a:noFill/>
            </a:ln>
            <a:effectLst/>
          </c:spPr>
          <c:marker>
            <c:symbol val="circle"/>
            <c:size val="9"/>
            <c:spPr>
              <a:solidFill>
                <a:srgbClr val="B9CADB"/>
              </a:solidFill>
              <a:ln w="9525" cap="flat">
                <a:solidFill>
                  <a:srgbClr val="B9CADB"/>
                </a:solidFill>
                <a:prstDash val="solid"/>
                <a:round/>
              </a:ln>
              <a:effectLst/>
            </c:spPr>
          </c:marker>
          <c:xVal>
            <c:numRef>
              <c:f>Sheet1!$A$2:$A$7</c:f>
              <c:numCache>
                <c:formatCode>General</c:formatCode>
                <c:ptCount val="6"/>
                <c:pt idx="0">
                  <c:v>1</c:v>
                </c:pt>
                <c:pt idx="1">
                  <c:v>1</c:v>
                </c:pt>
                <c:pt idx="2">
                  <c:v>2</c:v>
                </c:pt>
                <c:pt idx="3">
                  <c:v>2</c:v>
                </c:pt>
                <c:pt idx="4">
                  <c:v>3</c:v>
                </c:pt>
                <c:pt idx="5">
                  <c:v>3</c:v>
                </c:pt>
              </c:numCache>
            </c:numRef>
          </c:xVal>
          <c:yVal>
            <c:numRef>
              <c:f>Sheet1!$B$2:$B$7</c:f>
              <c:numCache>
                <c:formatCode>General</c:formatCode>
                <c:ptCount val="6"/>
                <c:pt idx="0">
                  <c:v>1</c:v>
                </c:pt>
                <c:pt idx="1">
                  <c:v>2</c:v>
                </c:pt>
                <c:pt idx="2">
                  <c:v>1</c:v>
                </c:pt>
                <c:pt idx="3">
                  <c:v>2</c:v>
                </c:pt>
                <c:pt idx="4">
                  <c:v>1</c:v>
                </c:pt>
                <c:pt idx="5">
                  <c:v>2</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
          <c:min val="0"/>
        </c:scaling>
        <c:delete val="0"/>
        <c:axPos val="b"/>
        <c:title>
          <c:tx>
            <c:rich>
              <a:bodyPr/>
              <a:lstStyle/>
              <a:p>
                <a:pPr>
                  <a:defRPr sz="1000" b="0" i="0" u="none" strike="noStrike">
                    <a:solidFill>
                      <a:srgbClr val="5B6B7C"/>
                    </a:solidFill>
                    <a:latin typeface="+mn-lt"/>
                  </a:defRPr>
                </a:pPr>
                <a:r>
                  <a:rPr sz="1000" b="0" i="0" u="none" strike="noStrike">
                    <a:solidFill>
                      <a:srgbClr val="5B6B7C"/>
                    </a:solidFill>
                    <a:latin typeface="+mn-lt"/>
                  </a:rPr>
                  <a:t>Facility capacity</a:t>
                </a:r>
              </a:p>
            </c:rich>
          </c:tx>
          <c:layout/>
          <c:overlay val="0"/>
        </c:title>
        <c:numFmt formatCode=";;;"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5B6B7C"/>
                </a:solidFill>
                <a:latin typeface="+mn-lt"/>
              </a:defRPr>
            </a:pPr>
            <a:endParaRPr lang="en-US"/>
          </a:p>
        </c:txPr>
        <c:crossAx val="2094734552"/>
        <c:crosses val="autoZero"/>
        <c:auto val="1"/>
        <c:lblAlgn val="ctr"/>
        <c:noMultiLvlLbl val="1"/>
      </c:valAx>
      <c:valAx>
        <c:axId val="2094734552"/>
        <c:scaling>
          <c:orientation val="minMax"/>
          <c:max val="3"/>
          <c:min val="0"/>
        </c:scaling>
        <c:delete val="0"/>
        <c:axPos val="l"/>
        <c:majorGridlines>
          <c:spPr>
            <a:ln w="9525" cap="flat">
              <a:solidFill>
                <a:srgbClr val="E3ECF4"/>
              </a:solidFill>
              <a:prstDash val="solid"/>
              <a:round/>
            </a:ln>
          </c:spPr>
        </c:majorGridlines>
        <c:title>
          <c:tx>
            <c:rich>
              <a:bodyPr/>
              <a:lstStyle/>
              <a:p>
                <a:pPr>
                  <a:defRPr sz="1000" b="0" i="0" u="none" strike="noStrike">
                    <a:solidFill>
                      <a:srgbClr val="5B6B7C"/>
                    </a:solidFill>
                    <a:latin typeface="+mn-lt"/>
                  </a:defRPr>
                </a:pPr>
                <a:r>
                  <a:rPr sz="1000" b="0" i="0" u="none" strike="noStrike">
                    <a:solidFill>
                      <a:srgbClr val="5B6B7C"/>
                    </a:solidFill>
                    <a:latin typeface="+mn-lt"/>
                  </a:rPr>
                  <a:t>Average recorded occupancy</a:t>
                </a:r>
              </a:p>
            </c:rich>
          </c:tx>
          <c:layout/>
          <c:overlay val="0"/>
        </c:title>
        <c:numFmt formatCode=";;;"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5B6B7C"/>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Campus Facility Insight, a data analysis and visualization study for smart campus facility management. I am Monikha K, and this is my Data Science Sprint assessment. The project looks at how campus classrooms, laboratories and libraries are used, and how analytics can support better decisions. Please note that all datasets used are synthetic or sample data, not live campus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Campus facilities such as classrooms, labs and libraries do not always get used evenly. Some spaces may sit empty, others may be crowded at peak hours, demand can change during examination periods, and some facilities may need repeated maintenance. The core problem is this: how can campus facility data be analysed to understand usage patterns and support better facility management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built around six business questions. One: which facilities are most used. Two: when are the peak periods. Three: which rooms are underused. Four: how exam-period usage compares with non-exam periods. Five: which facilities have frequent maintenance records. Six: whether capacity matches actual occupancy. Every later slide connects back to these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uses five CSV files. Bookings holds schedules and purposes. Facilities holds types and capacities. Occupancy holds occupancy readings. Calendar marks working days, events and exams. Maintenance holds maintenance records and downtime. I want to be clear that these are synthetic sample datasets created for analysis, so I am not reporting record counts or any real-world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runs in nine steps: data loading, understanding, cleaning, integrating the five datasets, exploratory analysis, feature engineering, feature selection, Excel visualization, and finally insights and recommendations. Preprocessing included handling missing values, checking duplicates, standardizing facility names, flagging occupancy above capacity, handling incomplete maintenance information, and matching occupancy dates with the calendar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cleaning and integration, I engineered features that make the data easier to analyse: booking duration, hour of day, day of week, a weekend indicator, occupancy utilization percentage, a peak-hour indicator, a utilization category, and an examination-period indicator. The table shows a small illustrative before-and-after example. These values are for explanation only and are not project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questions one and two. The left chart will show average utilization by facility, which identifies the most heavily used spaces. The right chart will show average utilization by hour of day, which reveals peak periods. Both charts are clearly marked placeholders: I am not presenting any numbers here until the verified results from the Python and Excel analysis are loaded into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three and four. The left chart will list facilities below the 25 percent average-utilization threshold I selected, which points to space-allocation opportunities. The right chart compares exam and non-exam utilization. This comparison depends on accurate date matching between occupancy and calendar records and on having enough observations, so I will not claim a positive or negative exam effect until the results are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five and six. The left chart will count maintenance records per facility. It is important to separate maintenance frequency, meaning how often issues are recorded, from downtime duration, meaning how long a facility was out of use. I will not describe downtime as hours unless the dataset documentation confirms that unit. The right scatter plot compares capacity with average recorded occupancy to see whether space size matches actual use. Again, these are placeholders awaiting verified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Campus Facility Insight shows how facility data can support data-driven campus management. My recommendations are to review scheduling for heavily used facilities, investigate consistently underused spaces, compare exam and non-exam patterns, prioritize facilities with recurring maintenance records, monitor occupancy against capacity, and collect reliable, continuous occupancy data for future analysis. These are recommendations for future improvement rather than verified findings.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51560"/>
            <a:ext cx="4572000" cy="137160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
        <p:nvSpPr>
          <p:cNvPr id="3" name="Text 0"/>
          <p:cNvSpPr/>
          <p:nvPr>
            <p:ph idx="101" type="body" hasCustomPrompt="1"/>
          </p:nvPr>
        </p:nvSpPr>
        <p:spPr>
          <a:xfrm>
            <a:off x="548640" y="2560320"/>
            <a:ext cx="4480560" cy="82296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
        <p:nvSpPr>
          <p:cNvPr id="4" name="Text 0"/>
          <p:cNvSpPr/>
          <p:nvPr/>
        </p:nvSpPr>
        <p:spPr>
          <a:xfrm>
            <a:off x="457200" y="4828032"/>
            <a:ext cx="6400800" cy="228600"/>
          </a:xfrm>
          <a:prstGeom prst="rect">
            <a:avLst/>
          </a:prstGeom>
          <a:noFill/>
          <a:ln/>
        </p:spPr>
        <p:txBody>
          <a:bodyPr wrap="square" lIns="0" tIns="0" rIns="0" bIns="0" rtlCol="0" anchor="ctr"/>
          <a:lstStyle/>
          <a:p>
            <a:pPr indent="0" marL="0">
              <a:buNone/>
            </a:pPr>
            <a:r>
              <a:rPr lang="en-US" sz="1000" dirty="0">
                <a:solidFill>
                  <a:schemeClr val="accent6"/>
                </a:solidFill>
              </a:rPr>
              <a:t>Campus Facility Insight  |  Data Science Sprint  |  Synthetic / sample data</a:t>
            </a:r>
            <a:endParaRPr lang="en-US" sz="1000" dirty="0"/>
          </a:p>
        </p:txBody>
      </p:sp>
      <p:sp>
        <p:nvSpPr>
          <p:cNvPr id="25" name="Slide Number Placeholder 0"/>
          <p:cNvSpPr>
            <a:spLocks noGrp="1"/>
          </p:cNvSpPr>
          <p:nvPr>
            <p:ph type="sldNum" sz="quarter" idx="4294967295"/>
          </p:nvPr>
        </p:nvSpPr>
        <p:spPr>
          <a:xfrm>
            <a:off x="8046720" y="4828032"/>
            <a:ext cx="6400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AYOU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457200" y="4828032"/>
            <a:ext cx="6400800" cy="228600"/>
          </a:xfrm>
          <a:prstGeom prst="rect">
            <a:avLst/>
          </a:prstGeom>
          <a:noFill/>
          <a:ln/>
        </p:spPr>
        <p:txBody>
          <a:bodyPr wrap="square" lIns="0" tIns="0" rIns="0" bIns="0" rtlCol="0" anchor="ctr"/>
          <a:lstStyle/>
          <a:p>
            <a:pPr indent="0" marL="0">
              <a:buNone/>
            </a:pPr>
            <a:r>
              <a:rPr lang="en-US" sz="1000" dirty="0">
                <a:solidFill>
                  <a:schemeClr val="accent6"/>
                </a:solidFill>
              </a:rPr>
              <a:t>Campus Facility Insight  |  Data Science Sprint  |  Synthetic / sample data</a:t>
            </a:r>
            <a:endParaRPr lang="en-US" sz="1000" dirty="0"/>
          </a:p>
        </p:txBody>
      </p:sp>
      <p:sp>
        <p:nvSpPr>
          <p:cNvPr id="25" name="Slide Number Placeholder 0"/>
          <p:cNvSpPr>
            <a:spLocks noGrp="1"/>
          </p:cNvSpPr>
          <p:nvPr>
            <p:ph type="sldNum" sz="quarter" idx="4294967295"/>
          </p:nvPr>
        </p:nvSpPr>
        <p:spPr>
          <a:xfrm>
            <a:off x="8046720" y="4828032"/>
            <a:ext cx="6400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046720" y="4828032"/>
            <a:ext cx="6400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51560"/>
            <a:ext cx="4572000" cy="1371600"/>
          </a:xfrm>
          <a:prstGeom prst="rect">
            <a:avLst/>
          </a:prstGeom>
          <a:noFill/>
          <a:ln/>
        </p:spPr>
        <p:txBody>
          <a:bodyPr wrap="square" lIns="0" tIns="0" rIns="0" bIns="0" rtlCol="0" anchor="t"/>
          <a:lstStyle/>
          <a:p>
            <a:pPr algn="l" indent="0" marL="0">
              <a:buNone/>
            </a:pPr>
            <a:r>
              <a:rPr lang="en-US" sz="4000" b="1" dirty="0">
                <a:solidFill>
                  <a:schemeClr val="tx2"/>
                </a:solidFill>
              </a:rPr>
              <a:t>Campus Facility Insight</a:t>
            </a:r>
            <a:endParaRPr lang="en-US" sz="4000" dirty="0"/>
          </a:p>
        </p:txBody>
      </p:sp>
      <p:sp>
        <p:nvSpPr>
          <p:cNvPr id="3" name="Text 0"/>
          <p:cNvSpPr/>
          <p:nvPr>
            <p:ph idx="101" type="body" hasCustomPrompt="1"/>
          </p:nvPr>
        </p:nvSpPr>
        <p:spPr>
          <a:xfrm>
            <a:off x="548640" y="2560320"/>
            <a:ext cx="4480560" cy="822960"/>
          </a:xfrm>
          <a:prstGeom prst="rect">
            <a:avLst/>
          </a:prstGeom>
          <a:noFill/>
          <a:ln/>
        </p:spPr>
        <p:txBody>
          <a:bodyPr wrap="square" lIns="0" tIns="0" rIns="0" bIns="0" rtlCol="0" anchor="t"/>
          <a:lstStyle/>
          <a:p>
            <a:pPr indent="0" marL="0">
              <a:buNone/>
            </a:pPr>
            <a:r>
              <a:rPr lang="en-US" sz="1600" dirty="0">
                <a:solidFill>
                  <a:schemeClr val="accent6"/>
                </a:solidFill>
              </a:rPr>
              <a:t>Data Analysis and Visualization for Smart Campus Facility Management</a:t>
            </a:r>
            <a:endParaRPr lang="en-US" sz="1600" dirty="0"/>
          </a:p>
        </p:txBody>
      </p:sp>
      <p:sp>
        <p:nvSpPr>
          <p:cNvPr id="4" name="Student icon circle"/>
          <p:cNvSpPr/>
          <p:nvPr/>
        </p:nvSpPr>
        <p:spPr>
          <a:xfrm>
            <a:off x="548640" y="3520440"/>
            <a:ext cx="365760" cy="365760"/>
          </a:xfrm>
          <a:prstGeom prst="ellipse">
            <a:avLst/>
          </a:prstGeom>
          <a:solidFill>
            <a:schemeClr val="accent2"/>
          </a:solidFill>
          <a:ln w="12700">
            <a:solidFill>
              <a:schemeClr val="accent2"/>
            </a:solidFill>
            <a:prstDash val="solid"/>
          </a:ln>
        </p:spPr>
      </p:sp>
      <p:pic>
        <p:nvPicPr>
          <p:cNvPr id="5" name="Image 0" descr="Student icon">    </p:cNvPr>
          <p:cNvPicPr>
            <a:picLocks noChangeAspect="1"/>
          </p:cNvPicPr>
          <p:nvPr/>
        </p:nvPicPr>
        <p:blipFill>
          <a:blip r:embed="rId1"/>
          <a:stretch>
            <a:fillRect/>
          </a:stretch>
        </p:blipFill>
        <p:spPr>
          <a:xfrm>
            <a:off x="636422" y="3608222"/>
            <a:ext cx="190195" cy="190195"/>
          </a:xfrm>
          <a:prstGeom prst="rect">
            <a:avLst/>
          </a:prstGeom>
        </p:spPr>
      </p:pic>
      <p:sp>
        <p:nvSpPr>
          <p:cNvPr id="6" name="Student name"/>
          <p:cNvSpPr txBox="1"/>
          <p:nvPr/>
        </p:nvSpPr>
        <p:spPr>
          <a:xfrm>
            <a:off x="1051560" y="3520440"/>
            <a:ext cx="3657600" cy="365760"/>
          </a:xfrm>
          <a:prstGeom prst="rect">
            <a:avLst/>
          </a:prstGeom>
          <a:noFill/>
          <a:ln/>
        </p:spPr>
        <p:txBody>
          <a:bodyPr wrap="square" lIns="0" tIns="0" rIns="0" bIns="0" rtlCol="0" anchor="ctr"/>
          <a:lstStyle/>
          <a:p>
            <a:pPr indent="0" marL="0">
              <a:buNone/>
            </a:pPr>
            <a:r>
              <a:rPr lang="en-US" sz="1500" dirty="0">
                <a:solidFill>
                  <a:schemeClr val="accent6"/>
                </a:solidFill>
              </a:rPr>
              <a:t>Student: </a:t>
            </a:r>
            <a:pPr indent="0" marL="0">
              <a:buNone/>
            </a:pPr>
            <a:r>
              <a:rPr lang="en-US" sz="1500" b="1" dirty="0">
                <a:solidFill>
                  <a:schemeClr val="tx2"/>
                </a:solidFill>
              </a:rPr>
              <a:t>Monikha K</a:t>
            </a:r>
            <a:endParaRPr lang="en-US" sz="1500" dirty="0"/>
          </a:p>
        </p:txBody>
      </p:sp>
      <p:sp>
        <p:nvSpPr>
          <p:cNvPr id="7" name="Assessment icon circle"/>
          <p:cNvSpPr/>
          <p:nvPr/>
        </p:nvSpPr>
        <p:spPr>
          <a:xfrm>
            <a:off x="548640" y="3977640"/>
            <a:ext cx="365760" cy="365760"/>
          </a:xfrm>
          <a:prstGeom prst="ellipse">
            <a:avLst/>
          </a:prstGeom>
          <a:solidFill>
            <a:schemeClr val="accent2"/>
          </a:solidFill>
          <a:ln w="12700">
            <a:solidFill>
              <a:schemeClr val="accent2"/>
            </a:solidFill>
            <a:prstDash val="solid"/>
          </a:ln>
        </p:spPr>
      </p:sp>
      <p:pic>
        <p:nvPicPr>
          <p:cNvPr id="8" name="Image 1" descr="Assessment icon">    </p:cNvPr>
          <p:cNvPicPr>
            <a:picLocks noChangeAspect="1"/>
          </p:cNvPicPr>
          <p:nvPr/>
        </p:nvPicPr>
        <p:blipFill>
          <a:blip r:embed="rId2"/>
          <a:stretch>
            <a:fillRect/>
          </a:stretch>
        </p:blipFill>
        <p:spPr>
          <a:xfrm>
            <a:off x="636422" y="4065422"/>
            <a:ext cx="190195" cy="190195"/>
          </a:xfrm>
          <a:prstGeom prst="rect">
            <a:avLst/>
          </a:prstGeom>
        </p:spPr>
      </p:pic>
      <p:sp>
        <p:nvSpPr>
          <p:cNvPr id="9" name="Assessment"/>
          <p:cNvSpPr txBox="1"/>
          <p:nvPr/>
        </p:nvSpPr>
        <p:spPr>
          <a:xfrm>
            <a:off x="1051560" y="3977640"/>
            <a:ext cx="3657600" cy="365760"/>
          </a:xfrm>
          <a:prstGeom prst="rect">
            <a:avLst/>
          </a:prstGeom>
          <a:noFill/>
          <a:ln/>
        </p:spPr>
        <p:txBody>
          <a:bodyPr wrap="square" lIns="0" tIns="0" rIns="0" bIns="0" rtlCol="0" anchor="ctr"/>
          <a:lstStyle/>
          <a:p>
            <a:pPr indent="0" marL="0">
              <a:buNone/>
            </a:pPr>
            <a:r>
              <a:rPr lang="en-US" sz="1500" dirty="0">
                <a:solidFill>
                  <a:schemeClr val="accent6"/>
                </a:solidFill>
              </a:rPr>
              <a:t>Assessment: </a:t>
            </a:r>
            <a:pPr indent="0" marL="0">
              <a:buNone/>
            </a:pPr>
            <a:r>
              <a:rPr lang="en-US" sz="1500" b="1" dirty="0">
                <a:solidFill>
                  <a:schemeClr val="tx2"/>
                </a:solidFill>
              </a:rPr>
              <a:t>Data Science Sprint</a:t>
            </a:r>
            <a:endParaRPr lang="en-US" sz="1500" dirty="0"/>
          </a:p>
        </p:txBody>
      </p:sp>
      <p:sp>
        <p:nvSpPr>
          <p:cNvPr id="10" name="Synthetic note"/>
          <p:cNvSpPr txBox="1"/>
          <p:nvPr/>
        </p:nvSpPr>
        <p:spPr>
          <a:xfrm>
            <a:off x="548640" y="4462272"/>
            <a:ext cx="4572000" cy="228600"/>
          </a:xfrm>
          <a:prstGeom prst="rect">
            <a:avLst/>
          </a:prstGeom>
          <a:noFill/>
          <a:ln/>
        </p:spPr>
        <p:txBody>
          <a:bodyPr wrap="square" lIns="0" tIns="0" rIns="0" bIns="0" rtlCol="0" anchor="ctr"/>
          <a:lstStyle/>
          <a:p>
            <a:pPr indent="0" marL="0">
              <a:buNone/>
            </a:pPr>
            <a:r>
              <a:rPr lang="en-US" sz="1100" i="1" dirty="0">
                <a:solidFill>
                  <a:schemeClr val="accent6"/>
                </a:solidFill>
              </a:rPr>
              <a:t>Based on synthetic / sample datasets, not live campus records.</a:t>
            </a:r>
            <a:endParaRPr lang="en-US" sz="1100" dirty="0"/>
          </a:p>
        </p:txBody>
      </p:sp>
      <p:sp>
        <p:nvSpPr>
          <p:cNvPr id="11" name="Illustration panel"/>
          <p:cNvSpPr/>
          <p:nvPr/>
        </p:nvSpPr>
        <p:spPr>
          <a:xfrm>
            <a:off x="5394960" y="457200"/>
            <a:ext cx="3291840" cy="4069080"/>
          </a:xfrm>
          <a:prstGeom prst="roundRect">
            <a:avLst>
              <a:gd name="adj" fmla="val 2222"/>
            </a:avLst>
          </a:prstGeom>
          <a:solidFill>
            <a:schemeClr val="bg2"/>
          </a:solidFill>
          <a:ln w="12700">
            <a:solidFill>
              <a:schemeClr val="bg2"/>
            </a:solidFill>
            <a:prstDash val="solid"/>
          </a:ln>
        </p:spPr>
      </p:sp>
      <p:sp>
        <p:nvSpPr>
          <p:cNvPr id="12" name="Analytics card"/>
          <p:cNvSpPr/>
          <p:nvPr/>
        </p:nvSpPr>
        <p:spPr>
          <a:xfrm>
            <a:off x="5623560" y="685800"/>
            <a:ext cx="2834640" cy="1051560"/>
          </a:xfrm>
          <a:prstGeom prst="roundRect">
            <a:avLst>
              <a:gd name="adj" fmla="val 6957"/>
            </a:avLst>
          </a:prstGeom>
          <a:solidFill>
            <a:schemeClr val="bg1"/>
          </a:solidFill>
          <a:ln w="12700">
            <a:solidFill>
              <a:schemeClr val="bg1"/>
            </a:solidFill>
            <a:prstDash val="solid"/>
          </a:ln>
        </p:spPr>
      </p:sp>
      <p:sp>
        <p:nvSpPr>
          <p:cNvPr id="13" name="Analytics icon circle"/>
          <p:cNvSpPr/>
          <p:nvPr/>
        </p:nvSpPr>
        <p:spPr>
          <a:xfrm>
            <a:off x="5760720" y="822960"/>
            <a:ext cx="365760" cy="365760"/>
          </a:xfrm>
          <a:prstGeom prst="ellipse">
            <a:avLst/>
          </a:prstGeom>
          <a:solidFill>
            <a:schemeClr val="accent2"/>
          </a:solidFill>
          <a:ln w="12700">
            <a:solidFill>
              <a:schemeClr val="accent2"/>
            </a:solidFill>
            <a:prstDash val="solid"/>
          </a:ln>
        </p:spPr>
      </p:sp>
      <p:pic>
        <p:nvPicPr>
          <p:cNvPr id="14" name="Image 2" descr="Analytics icon">    </p:cNvPr>
          <p:cNvPicPr>
            <a:picLocks noChangeAspect="1"/>
          </p:cNvPicPr>
          <p:nvPr/>
        </p:nvPicPr>
        <p:blipFill>
          <a:blip r:embed="rId3"/>
          <a:stretch>
            <a:fillRect/>
          </a:stretch>
        </p:blipFill>
        <p:spPr>
          <a:xfrm>
            <a:off x="5848502" y="910742"/>
            <a:ext cx="190195" cy="190195"/>
          </a:xfrm>
          <a:prstGeom prst="rect">
            <a:avLst/>
          </a:prstGeom>
        </p:spPr>
      </p:pic>
      <p:sp>
        <p:nvSpPr>
          <p:cNvPr id="15" name="Analytics label"/>
          <p:cNvSpPr txBox="1"/>
          <p:nvPr/>
        </p:nvSpPr>
        <p:spPr>
          <a:xfrm>
            <a:off x="6217920" y="822960"/>
            <a:ext cx="1097280" cy="365760"/>
          </a:xfrm>
          <a:prstGeom prst="rect">
            <a:avLst/>
          </a:prstGeom>
          <a:noFill/>
          <a:ln/>
        </p:spPr>
        <p:txBody>
          <a:bodyPr wrap="square" lIns="0" tIns="0" rIns="0" bIns="0" rtlCol="0" anchor="ctr"/>
          <a:lstStyle/>
          <a:p>
            <a:pPr indent="0" marL="0">
              <a:buNone/>
            </a:pPr>
            <a:r>
              <a:rPr lang="en-US" sz="1300" b="1" dirty="0">
                <a:solidFill>
                  <a:schemeClr val="tx2"/>
                </a:solidFill>
              </a:rPr>
              <a:t>Analytics</a:t>
            </a:r>
            <a:endParaRPr lang="en-US" sz="1300" dirty="0"/>
          </a:p>
        </p:txBody>
      </p:sp>
      <p:sp>
        <p:nvSpPr>
          <p:cNvPr id="16" name="Mini bar 1"/>
          <p:cNvSpPr/>
          <p:nvPr/>
        </p:nvSpPr>
        <p:spPr>
          <a:xfrm>
            <a:off x="7315200" y="1325880"/>
            <a:ext cx="128016" cy="274320"/>
          </a:xfrm>
          <a:prstGeom prst="roundRect">
            <a:avLst>
              <a:gd name="adj" fmla="val 57143"/>
            </a:avLst>
          </a:prstGeom>
          <a:solidFill>
            <a:schemeClr val="accent3"/>
          </a:solidFill>
          <a:ln w="12700">
            <a:solidFill>
              <a:schemeClr val="accent3"/>
            </a:solidFill>
            <a:prstDash val="solid"/>
          </a:ln>
        </p:spPr>
      </p:sp>
      <p:sp>
        <p:nvSpPr>
          <p:cNvPr id="17" name="Mini bar 2"/>
          <p:cNvSpPr/>
          <p:nvPr/>
        </p:nvSpPr>
        <p:spPr>
          <a:xfrm>
            <a:off x="7516368" y="1143000"/>
            <a:ext cx="128016" cy="457200"/>
          </a:xfrm>
          <a:prstGeom prst="roundRect">
            <a:avLst>
              <a:gd name="adj" fmla="val 57143"/>
            </a:avLst>
          </a:prstGeom>
          <a:solidFill>
            <a:schemeClr val="accent3"/>
          </a:solidFill>
          <a:ln w="12700">
            <a:solidFill>
              <a:schemeClr val="accent3"/>
            </a:solidFill>
            <a:prstDash val="solid"/>
          </a:ln>
        </p:spPr>
      </p:sp>
      <p:sp>
        <p:nvSpPr>
          <p:cNvPr id="18" name="Mini bar 3"/>
          <p:cNvSpPr/>
          <p:nvPr/>
        </p:nvSpPr>
        <p:spPr>
          <a:xfrm>
            <a:off x="7717536" y="1252728"/>
            <a:ext cx="128016" cy="347472"/>
          </a:xfrm>
          <a:prstGeom prst="roundRect">
            <a:avLst>
              <a:gd name="adj" fmla="val 57143"/>
            </a:avLst>
          </a:prstGeom>
          <a:solidFill>
            <a:schemeClr val="accent3"/>
          </a:solidFill>
          <a:ln w="12700">
            <a:solidFill>
              <a:schemeClr val="accent3"/>
            </a:solidFill>
            <a:prstDash val="solid"/>
          </a:ln>
        </p:spPr>
      </p:sp>
      <p:sp>
        <p:nvSpPr>
          <p:cNvPr id="19" name="Mini bar 4"/>
          <p:cNvSpPr/>
          <p:nvPr/>
        </p:nvSpPr>
        <p:spPr>
          <a:xfrm>
            <a:off x="7918704" y="1033272"/>
            <a:ext cx="128016" cy="566928"/>
          </a:xfrm>
          <a:prstGeom prst="roundRect">
            <a:avLst>
              <a:gd name="adj" fmla="val 57143"/>
            </a:avLst>
          </a:prstGeom>
          <a:solidFill>
            <a:schemeClr val="accent2"/>
          </a:solidFill>
          <a:ln w="12700">
            <a:solidFill>
              <a:schemeClr val="accent2"/>
            </a:solidFill>
            <a:prstDash val="solid"/>
          </a:ln>
        </p:spPr>
      </p:sp>
      <p:sp>
        <p:nvSpPr>
          <p:cNvPr id="20" name="Mini bar 5"/>
          <p:cNvSpPr/>
          <p:nvPr/>
        </p:nvSpPr>
        <p:spPr>
          <a:xfrm>
            <a:off x="8119872" y="1188720"/>
            <a:ext cx="128016" cy="411480"/>
          </a:xfrm>
          <a:prstGeom prst="roundRect">
            <a:avLst>
              <a:gd name="adj" fmla="val 57143"/>
            </a:avLst>
          </a:prstGeom>
          <a:solidFill>
            <a:schemeClr val="accent3"/>
          </a:solidFill>
          <a:ln w="12700">
            <a:solidFill>
              <a:schemeClr val="accent3"/>
            </a:solidFill>
            <a:prstDash val="solid"/>
          </a:ln>
        </p:spPr>
      </p:sp>
      <p:sp>
        <p:nvSpPr>
          <p:cNvPr id="21" name="Classrooms building"/>
          <p:cNvSpPr/>
          <p:nvPr/>
        </p:nvSpPr>
        <p:spPr>
          <a:xfrm>
            <a:off x="5623560" y="3017520"/>
            <a:ext cx="868680" cy="1097280"/>
          </a:xfrm>
          <a:prstGeom prst="rect">
            <a:avLst/>
          </a:prstGeom>
          <a:solidFill>
            <a:schemeClr val="accent1"/>
          </a:solidFill>
          <a:ln w="12700">
            <a:solidFill>
              <a:schemeClr val="accent1"/>
            </a:solidFill>
            <a:prstDash val="solid"/>
          </a:ln>
        </p:spPr>
      </p:sp>
      <p:sp>
        <p:nvSpPr>
          <p:cNvPr id="22" name="Classrooms window"/>
          <p:cNvSpPr/>
          <p:nvPr/>
        </p:nvSpPr>
        <p:spPr>
          <a:xfrm>
            <a:off x="5806440" y="3154680"/>
            <a:ext cx="182880" cy="182880"/>
          </a:xfrm>
          <a:prstGeom prst="rect">
            <a:avLst/>
          </a:prstGeom>
          <a:solidFill>
            <a:schemeClr val="bg1"/>
          </a:solidFill>
          <a:ln w="12700">
            <a:solidFill>
              <a:schemeClr val="bg1"/>
            </a:solidFill>
            <a:prstDash val="solid"/>
          </a:ln>
        </p:spPr>
      </p:sp>
      <p:sp>
        <p:nvSpPr>
          <p:cNvPr id="23" name="Classrooms window"/>
          <p:cNvSpPr/>
          <p:nvPr/>
        </p:nvSpPr>
        <p:spPr>
          <a:xfrm>
            <a:off x="6126480" y="3154680"/>
            <a:ext cx="182880" cy="182880"/>
          </a:xfrm>
          <a:prstGeom prst="rect">
            <a:avLst/>
          </a:prstGeom>
          <a:solidFill>
            <a:schemeClr val="bg1"/>
          </a:solidFill>
          <a:ln w="12700">
            <a:solidFill>
              <a:schemeClr val="bg1"/>
            </a:solidFill>
            <a:prstDash val="solid"/>
          </a:ln>
        </p:spPr>
      </p:sp>
      <p:sp>
        <p:nvSpPr>
          <p:cNvPr id="24" name="Classrooms window"/>
          <p:cNvSpPr/>
          <p:nvPr/>
        </p:nvSpPr>
        <p:spPr>
          <a:xfrm>
            <a:off x="5806440" y="3465576"/>
            <a:ext cx="182880" cy="182880"/>
          </a:xfrm>
          <a:prstGeom prst="rect">
            <a:avLst/>
          </a:prstGeom>
          <a:solidFill>
            <a:schemeClr val="bg1"/>
          </a:solidFill>
          <a:ln w="12700">
            <a:solidFill>
              <a:schemeClr val="bg1"/>
            </a:solidFill>
            <a:prstDash val="solid"/>
          </a:ln>
        </p:spPr>
      </p:sp>
      <p:sp>
        <p:nvSpPr>
          <p:cNvPr id="25" name="Classrooms window"/>
          <p:cNvSpPr/>
          <p:nvPr/>
        </p:nvSpPr>
        <p:spPr>
          <a:xfrm>
            <a:off x="6126480" y="3465576"/>
            <a:ext cx="182880" cy="182880"/>
          </a:xfrm>
          <a:prstGeom prst="rect">
            <a:avLst/>
          </a:prstGeom>
          <a:solidFill>
            <a:schemeClr val="bg1"/>
          </a:solidFill>
          <a:ln w="12700">
            <a:solidFill>
              <a:schemeClr val="bg1"/>
            </a:solidFill>
            <a:prstDash val="solid"/>
          </a:ln>
        </p:spPr>
      </p:sp>
      <p:sp>
        <p:nvSpPr>
          <p:cNvPr id="26" name="Classrooms icon circle"/>
          <p:cNvSpPr/>
          <p:nvPr/>
        </p:nvSpPr>
        <p:spPr>
          <a:xfrm>
            <a:off x="5829300" y="2468880"/>
            <a:ext cx="457200" cy="457200"/>
          </a:xfrm>
          <a:prstGeom prst="ellipse">
            <a:avLst/>
          </a:prstGeom>
          <a:solidFill>
            <a:schemeClr val="bg1"/>
          </a:solidFill>
          <a:ln w="12700">
            <a:solidFill>
              <a:schemeClr val="bg1"/>
            </a:solidFill>
            <a:prstDash val="solid"/>
          </a:ln>
        </p:spPr>
      </p:sp>
      <p:pic>
        <p:nvPicPr>
          <p:cNvPr id="27" name="Image 3" descr="Classrooms">    </p:cNvPr>
          <p:cNvPicPr>
            <a:picLocks noChangeAspect="1"/>
          </p:cNvPicPr>
          <p:nvPr/>
        </p:nvPicPr>
        <p:blipFill>
          <a:blip r:embed="rId4"/>
          <a:stretch>
            <a:fillRect/>
          </a:stretch>
        </p:blipFill>
        <p:spPr>
          <a:xfrm>
            <a:off x="5920740" y="2560320"/>
            <a:ext cx="274320" cy="274320"/>
          </a:xfrm>
          <a:prstGeom prst="rect">
            <a:avLst/>
          </a:prstGeom>
        </p:spPr>
      </p:pic>
      <p:sp>
        <p:nvSpPr>
          <p:cNvPr id="28" name="Classrooms label"/>
          <p:cNvSpPr txBox="1"/>
          <p:nvPr/>
        </p:nvSpPr>
        <p:spPr>
          <a:xfrm>
            <a:off x="5577840" y="4206240"/>
            <a:ext cx="960120" cy="228600"/>
          </a:xfrm>
          <a:prstGeom prst="rect">
            <a:avLst/>
          </a:prstGeom>
          <a:noFill/>
          <a:ln/>
        </p:spPr>
        <p:txBody>
          <a:bodyPr wrap="square" lIns="0" tIns="0" rIns="0" bIns="0" rtlCol="0" anchor="ctr"/>
          <a:lstStyle/>
          <a:p>
            <a:pPr algn="ctr" indent="0" marL="0">
              <a:buNone/>
            </a:pPr>
            <a:r>
              <a:rPr lang="en-US" sz="1100" dirty="0">
                <a:solidFill>
                  <a:schemeClr val="tx2"/>
                </a:solidFill>
              </a:rPr>
              <a:t>Classrooms</a:t>
            </a:r>
            <a:endParaRPr lang="en-US" sz="1100" dirty="0"/>
          </a:p>
        </p:txBody>
      </p:sp>
      <p:sp>
        <p:nvSpPr>
          <p:cNvPr id="29" name="Laboratories building"/>
          <p:cNvSpPr/>
          <p:nvPr/>
        </p:nvSpPr>
        <p:spPr>
          <a:xfrm>
            <a:off x="6629400" y="2514600"/>
            <a:ext cx="868680" cy="1600200"/>
          </a:xfrm>
          <a:prstGeom prst="rect">
            <a:avLst/>
          </a:prstGeom>
          <a:solidFill>
            <a:schemeClr val="accent2"/>
          </a:solidFill>
          <a:ln w="12700">
            <a:solidFill>
              <a:schemeClr val="accent2"/>
            </a:solidFill>
            <a:prstDash val="solid"/>
          </a:ln>
        </p:spPr>
      </p:sp>
      <p:sp>
        <p:nvSpPr>
          <p:cNvPr id="30" name="Laboratories window"/>
          <p:cNvSpPr/>
          <p:nvPr/>
        </p:nvSpPr>
        <p:spPr>
          <a:xfrm>
            <a:off x="6812280" y="2651760"/>
            <a:ext cx="182880" cy="182880"/>
          </a:xfrm>
          <a:prstGeom prst="rect">
            <a:avLst/>
          </a:prstGeom>
          <a:solidFill>
            <a:schemeClr val="bg1"/>
          </a:solidFill>
          <a:ln w="12700">
            <a:solidFill>
              <a:schemeClr val="bg1"/>
            </a:solidFill>
            <a:prstDash val="solid"/>
          </a:ln>
        </p:spPr>
      </p:sp>
      <p:sp>
        <p:nvSpPr>
          <p:cNvPr id="31" name="Laboratories window"/>
          <p:cNvSpPr/>
          <p:nvPr/>
        </p:nvSpPr>
        <p:spPr>
          <a:xfrm>
            <a:off x="7132320" y="2651760"/>
            <a:ext cx="182880" cy="182880"/>
          </a:xfrm>
          <a:prstGeom prst="rect">
            <a:avLst/>
          </a:prstGeom>
          <a:solidFill>
            <a:schemeClr val="bg1"/>
          </a:solidFill>
          <a:ln w="12700">
            <a:solidFill>
              <a:schemeClr val="bg1"/>
            </a:solidFill>
            <a:prstDash val="solid"/>
          </a:ln>
        </p:spPr>
      </p:sp>
      <p:sp>
        <p:nvSpPr>
          <p:cNvPr id="32" name="Laboratories window"/>
          <p:cNvSpPr/>
          <p:nvPr/>
        </p:nvSpPr>
        <p:spPr>
          <a:xfrm>
            <a:off x="6812280" y="2962656"/>
            <a:ext cx="182880" cy="182880"/>
          </a:xfrm>
          <a:prstGeom prst="rect">
            <a:avLst/>
          </a:prstGeom>
          <a:solidFill>
            <a:schemeClr val="bg1"/>
          </a:solidFill>
          <a:ln w="12700">
            <a:solidFill>
              <a:schemeClr val="bg1"/>
            </a:solidFill>
            <a:prstDash val="solid"/>
          </a:ln>
        </p:spPr>
      </p:sp>
      <p:sp>
        <p:nvSpPr>
          <p:cNvPr id="33" name="Laboratories window"/>
          <p:cNvSpPr/>
          <p:nvPr/>
        </p:nvSpPr>
        <p:spPr>
          <a:xfrm>
            <a:off x="7132320" y="2962656"/>
            <a:ext cx="182880" cy="182880"/>
          </a:xfrm>
          <a:prstGeom prst="rect">
            <a:avLst/>
          </a:prstGeom>
          <a:solidFill>
            <a:schemeClr val="bg1"/>
          </a:solidFill>
          <a:ln w="12700">
            <a:solidFill>
              <a:schemeClr val="bg1"/>
            </a:solidFill>
            <a:prstDash val="solid"/>
          </a:ln>
        </p:spPr>
      </p:sp>
      <p:sp>
        <p:nvSpPr>
          <p:cNvPr id="34" name="Laboratories window"/>
          <p:cNvSpPr/>
          <p:nvPr/>
        </p:nvSpPr>
        <p:spPr>
          <a:xfrm>
            <a:off x="6812280" y="3273552"/>
            <a:ext cx="182880" cy="182880"/>
          </a:xfrm>
          <a:prstGeom prst="rect">
            <a:avLst/>
          </a:prstGeom>
          <a:solidFill>
            <a:schemeClr val="bg1"/>
          </a:solidFill>
          <a:ln w="12700">
            <a:solidFill>
              <a:schemeClr val="bg1"/>
            </a:solidFill>
            <a:prstDash val="solid"/>
          </a:ln>
        </p:spPr>
      </p:sp>
      <p:sp>
        <p:nvSpPr>
          <p:cNvPr id="35" name="Laboratories window"/>
          <p:cNvSpPr/>
          <p:nvPr/>
        </p:nvSpPr>
        <p:spPr>
          <a:xfrm>
            <a:off x="7132320" y="3273552"/>
            <a:ext cx="182880" cy="182880"/>
          </a:xfrm>
          <a:prstGeom prst="rect">
            <a:avLst/>
          </a:prstGeom>
          <a:solidFill>
            <a:schemeClr val="bg1"/>
          </a:solidFill>
          <a:ln w="12700">
            <a:solidFill>
              <a:schemeClr val="bg1"/>
            </a:solidFill>
            <a:prstDash val="solid"/>
          </a:ln>
        </p:spPr>
      </p:sp>
      <p:sp>
        <p:nvSpPr>
          <p:cNvPr id="36" name="Laboratories window"/>
          <p:cNvSpPr/>
          <p:nvPr/>
        </p:nvSpPr>
        <p:spPr>
          <a:xfrm>
            <a:off x="6812280" y="3584448"/>
            <a:ext cx="182880" cy="182880"/>
          </a:xfrm>
          <a:prstGeom prst="rect">
            <a:avLst/>
          </a:prstGeom>
          <a:solidFill>
            <a:schemeClr val="bg1"/>
          </a:solidFill>
          <a:ln w="12700">
            <a:solidFill>
              <a:schemeClr val="bg1"/>
            </a:solidFill>
            <a:prstDash val="solid"/>
          </a:ln>
        </p:spPr>
      </p:sp>
      <p:sp>
        <p:nvSpPr>
          <p:cNvPr id="37" name="Laboratories window"/>
          <p:cNvSpPr/>
          <p:nvPr/>
        </p:nvSpPr>
        <p:spPr>
          <a:xfrm>
            <a:off x="7132320" y="3584448"/>
            <a:ext cx="182880" cy="182880"/>
          </a:xfrm>
          <a:prstGeom prst="rect">
            <a:avLst/>
          </a:prstGeom>
          <a:solidFill>
            <a:schemeClr val="bg1"/>
          </a:solidFill>
          <a:ln w="12700">
            <a:solidFill>
              <a:schemeClr val="bg1"/>
            </a:solidFill>
            <a:prstDash val="solid"/>
          </a:ln>
        </p:spPr>
      </p:sp>
      <p:sp>
        <p:nvSpPr>
          <p:cNvPr id="38" name="Laboratories icon circle"/>
          <p:cNvSpPr/>
          <p:nvPr/>
        </p:nvSpPr>
        <p:spPr>
          <a:xfrm>
            <a:off x="6835140" y="1965960"/>
            <a:ext cx="457200" cy="457200"/>
          </a:xfrm>
          <a:prstGeom prst="ellipse">
            <a:avLst/>
          </a:prstGeom>
          <a:solidFill>
            <a:schemeClr val="bg1"/>
          </a:solidFill>
          <a:ln w="12700">
            <a:solidFill>
              <a:schemeClr val="bg1"/>
            </a:solidFill>
            <a:prstDash val="solid"/>
          </a:ln>
        </p:spPr>
      </p:sp>
      <p:pic>
        <p:nvPicPr>
          <p:cNvPr id="39" name="Image 4" descr="Laboratories">    </p:cNvPr>
          <p:cNvPicPr>
            <a:picLocks noChangeAspect="1"/>
          </p:cNvPicPr>
          <p:nvPr/>
        </p:nvPicPr>
        <p:blipFill>
          <a:blip r:embed="rId5"/>
          <a:stretch>
            <a:fillRect/>
          </a:stretch>
        </p:blipFill>
        <p:spPr>
          <a:xfrm>
            <a:off x="6926580" y="2057400"/>
            <a:ext cx="274320" cy="274320"/>
          </a:xfrm>
          <a:prstGeom prst="rect">
            <a:avLst/>
          </a:prstGeom>
        </p:spPr>
      </p:pic>
      <p:sp>
        <p:nvSpPr>
          <p:cNvPr id="40" name="Laboratories label"/>
          <p:cNvSpPr txBox="1"/>
          <p:nvPr/>
        </p:nvSpPr>
        <p:spPr>
          <a:xfrm>
            <a:off x="6583680" y="4206240"/>
            <a:ext cx="960120" cy="228600"/>
          </a:xfrm>
          <a:prstGeom prst="rect">
            <a:avLst/>
          </a:prstGeom>
          <a:noFill/>
          <a:ln/>
        </p:spPr>
        <p:txBody>
          <a:bodyPr wrap="square" lIns="0" tIns="0" rIns="0" bIns="0" rtlCol="0" anchor="ctr"/>
          <a:lstStyle/>
          <a:p>
            <a:pPr algn="ctr" indent="0" marL="0">
              <a:buNone/>
            </a:pPr>
            <a:r>
              <a:rPr lang="en-US" sz="1100" dirty="0">
                <a:solidFill>
                  <a:schemeClr val="tx2"/>
                </a:solidFill>
              </a:rPr>
              <a:t>Laboratories</a:t>
            </a:r>
            <a:endParaRPr lang="en-US" sz="1100" dirty="0"/>
          </a:p>
        </p:txBody>
      </p:sp>
      <p:sp>
        <p:nvSpPr>
          <p:cNvPr id="41" name="Library building"/>
          <p:cNvSpPr/>
          <p:nvPr/>
        </p:nvSpPr>
        <p:spPr>
          <a:xfrm>
            <a:off x="7635240" y="2834640"/>
            <a:ext cx="868680" cy="1280160"/>
          </a:xfrm>
          <a:prstGeom prst="rect">
            <a:avLst/>
          </a:prstGeom>
          <a:solidFill>
            <a:schemeClr val="accent3"/>
          </a:solidFill>
          <a:ln w="12700">
            <a:solidFill>
              <a:schemeClr val="accent3"/>
            </a:solidFill>
            <a:prstDash val="solid"/>
          </a:ln>
        </p:spPr>
      </p:sp>
      <p:sp>
        <p:nvSpPr>
          <p:cNvPr id="42" name="Library window"/>
          <p:cNvSpPr/>
          <p:nvPr/>
        </p:nvSpPr>
        <p:spPr>
          <a:xfrm>
            <a:off x="7818120" y="2971800"/>
            <a:ext cx="182880" cy="182880"/>
          </a:xfrm>
          <a:prstGeom prst="rect">
            <a:avLst/>
          </a:prstGeom>
          <a:solidFill>
            <a:schemeClr val="bg1"/>
          </a:solidFill>
          <a:ln w="12700">
            <a:solidFill>
              <a:schemeClr val="bg1"/>
            </a:solidFill>
            <a:prstDash val="solid"/>
          </a:ln>
        </p:spPr>
      </p:sp>
      <p:sp>
        <p:nvSpPr>
          <p:cNvPr id="43" name="Library window"/>
          <p:cNvSpPr/>
          <p:nvPr/>
        </p:nvSpPr>
        <p:spPr>
          <a:xfrm>
            <a:off x="8138160" y="2971800"/>
            <a:ext cx="182880" cy="182880"/>
          </a:xfrm>
          <a:prstGeom prst="rect">
            <a:avLst/>
          </a:prstGeom>
          <a:solidFill>
            <a:schemeClr val="bg1"/>
          </a:solidFill>
          <a:ln w="12700">
            <a:solidFill>
              <a:schemeClr val="bg1"/>
            </a:solidFill>
            <a:prstDash val="solid"/>
          </a:ln>
        </p:spPr>
      </p:sp>
      <p:sp>
        <p:nvSpPr>
          <p:cNvPr id="44" name="Library window"/>
          <p:cNvSpPr/>
          <p:nvPr/>
        </p:nvSpPr>
        <p:spPr>
          <a:xfrm>
            <a:off x="7818120" y="3282696"/>
            <a:ext cx="182880" cy="182880"/>
          </a:xfrm>
          <a:prstGeom prst="rect">
            <a:avLst/>
          </a:prstGeom>
          <a:solidFill>
            <a:schemeClr val="bg1"/>
          </a:solidFill>
          <a:ln w="12700">
            <a:solidFill>
              <a:schemeClr val="bg1"/>
            </a:solidFill>
            <a:prstDash val="solid"/>
          </a:ln>
        </p:spPr>
      </p:sp>
      <p:sp>
        <p:nvSpPr>
          <p:cNvPr id="45" name="Library window"/>
          <p:cNvSpPr/>
          <p:nvPr/>
        </p:nvSpPr>
        <p:spPr>
          <a:xfrm>
            <a:off x="8138160" y="3282696"/>
            <a:ext cx="182880" cy="182880"/>
          </a:xfrm>
          <a:prstGeom prst="rect">
            <a:avLst/>
          </a:prstGeom>
          <a:solidFill>
            <a:schemeClr val="bg1"/>
          </a:solidFill>
          <a:ln w="12700">
            <a:solidFill>
              <a:schemeClr val="bg1"/>
            </a:solidFill>
            <a:prstDash val="solid"/>
          </a:ln>
        </p:spPr>
      </p:sp>
      <p:sp>
        <p:nvSpPr>
          <p:cNvPr id="46" name="Library window"/>
          <p:cNvSpPr/>
          <p:nvPr/>
        </p:nvSpPr>
        <p:spPr>
          <a:xfrm>
            <a:off x="7818120" y="3593592"/>
            <a:ext cx="182880" cy="182880"/>
          </a:xfrm>
          <a:prstGeom prst="rect">
            <a:avLst/>
          </a:prstGeom>
          <a:solidFill>
            <a:schemeClr val="bg1"/>
          </a:solidFill>
          <a:ln w="12700">
            <a:solidFill>
              <a:schemeClr val="bg1"/>
            </a:solidFill>
            <a:prstDash val="solid"/>
          </a:ln>
        </p:spPr>
      </p:sp>
      <p:sp>
        <p:nvSpPr>
          <p:cNvPr id="47" name="Library window"/>
          <p:cNvSpPr/>
          <p:nvPr/>
        </p:nvSpPr>
        <p:spPr>
          <a:xfrm>
            <a:off x="8138160" y="3593592"/>
            <a:ext cx="182880" cy="182880"/>
          </a:xfrm>
          <a:prstGeom prst="rect">
            <a:avLst/>
          </a:prstGeom>
          <a:solidFill>
            <a:schemeClr val="bg1"/>
          </a:solidFill>
          <a:ln w="12700">
            <a:solidFill>
              <a:schemeClr val="bg1"/>
            </a:solidFill>
            <a:prstDash val="solid"/>
          </a:ln>
        </p:spPr>
      </p:sp>
      <p:sp>
        <p:nvSpPr>
          <p:cNvPr id="48" name="Library icon circle"/>
          <p:cNvSpPr/>
          <p:nvPr/>
        </p:nvSpPr>
        <p:spPr>
          <a:xfrm>
            <a:off x="7840980" y="2286000"/>
            <a:ext cx="457200" cy="457200"/>
          </a:xfrm>
          <a:prstGeom prst="ellipse">
            <a:avLst/>
          </a:prstGeom>
          <a:solidFill>
            <a:schemeClr val="bg1"/>
          </a:solidFill>
          <a:ln w="12700">
            <a:solidFill>
              <a:schemeClr val="bg1"/>
            </a:solidFill>
            <a:prstDash val="solid"/>
          </a:ln>
        </p:spPr>
      </p:sp>
      <p:pic>
        <p:nvPicPr>
          <p:cNvPr id="49" name="Image 5" descr="Library">    </p:cNvPr>
          <p:cNvPicPr>
            <a:picLocks noChangeAspect="1"/>
          </p:cNvPicPr>
          <p:nvPr/>
        </p:nvPicPr>
        <p:blipFill>
          <a:blip r:embed="rId6"/>
          <a:stretch>
            <a:fillRect/>
          </a:stretch>
        </p:blipFill>
        <p:spPr>
          <a:xfrm>
            <a:off x="7932420" y="2377440"/>
            <a:ext cx="274320" cy="274320"/>
          </a:xfrm>
          <a:prstGeom prst="rect">
            <a:avLst/>
          </a:prstGeom>
        </p:spPr>
      </p:pic>
      <p:sp>
        <p:nvSpPr>
          <p:cNvPr id="50" name="Library label"/>
          <p:cNvSpPr txBox="1"/>
          <p:nvPr/>
        </p:nvSpPr>
        <p:spPr>
          <a:xfrm>
            <a:off x="7589520" y="4206240"/>
            <a:ext cx="960120" cy="228600"/>
          </a:xfrm>
          <a:prstGeom prst="rect">
            <a:avLst/>
          </a:prstGeom>
          <a:noFill/>
          <a:ln/>
        </p:spPr>
        <p:txBody>
          <a:bodyPr wrap="square" lIns="0" tIns="0" rIns="0" bIns="0" rtlCol="0" anchor="ctr"/>
          <a:lstStyle/>
          <a:p>
            <a:pPr algn="ctr" indent="0" marL="0">
              <a:buNone/>
            </a:pPr>
            <a:r>
              <a:rPr lang="en-US" sz="1100" dirty="0">
                <a:solidFill>
                  <a:schemeClr val="tx2"/>
                </a:solidFill>
              </a:rPr>
              <a:t>Library</a:t>
            </a:r>
            <a:endParaRPr lang="en-US" sz="1100" dirty="0"/>
          </a:p>
        </p:txBody>
      </p:sp>
      <p:sp>
        <p:nvSpPr>
          <p:cNvPr id="51" name="Ground"/>
          <p:cNvSpPr/>
          <p:nvPr/>
        </p:nvSpPr>
        <p:spPr>
          <a:xfrm>
            <a:off x="5577840" y="4114800"/>
            <a:ext cx="2926080" cy="45720"/>
          </a:xfrm>
          <a:prstGeom prst="rect">
            <a:avLst/>
          </a:prstGeom>
          <a:solidFill>
            <a:schemeClr val="accent6"/>
          </a:solidFill>
          <a:ln w="12700">
            <a:solidFill>
              <a:schemeClr val="accent6"/>
            </a:solidFill>
            <a:prstDash val="solid"/>
          </a:ln>
        </p:spPr>
      </p:sp>
      <p:sp>
        <p:nvSpPr>
          <p:cNvPr id="25" name="Slide Number Placeholder 0"/>
          <p:cNvSpPr>
            <a:spLocks noGrp="1"/>
          </p:cNvSpPr>
          <p:nvPr>
            <p:ph type="sldNum" sz="quarter" idx="4294967295"/>
          </p:nvPr>
        </p:nvSpPr>
        <p:spPr>
          <a:xfrm>
            <a:off x="8046720" y="4828032"/>
            <a:ext cx="6400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Problem Statement</a:t>
            </a:r>
            <a:endParaRPr lang="en-US" sz="2800" dirty="0"/>
          </a:p>
        </p:txBody>
      </p:sp>
      <p:sp>
        <p:nvSpPr>
          <p:cNvPr id="3" name="Challenge card 1"/>
          <p:cNvSpPr/>
          <p:nvPr/>
        </p:nvSpPr>
        <p:spPr>
          <a:xfrm>
            <a:off x="457200" y="1097280"/>
            <a:ext cx="4526280" cy="585216"/>
          </a:xfrm>
          <a:prstGeom prst="roundRect">
            <a:avLst>
              <a:gd name="adj" fmla="val 12500"/>
            </a:avLst>
          </a:prstGeom>
          <a:solidFill>
            <a:schemeClr val="bg2"/>
          </a:solidFill>
          <a:ln w="12700">
            <a:solidFill>
              <a:schemeClr val="bg2"/>
            </a:solidFill>
            <a:prstDash val="solid"/>
          </a:ln>
        </p:spPr>
      </p:sp>
      <p:sp>
        <p:nvSpPr>
          <p:cNvPr id="4" name="Challenge icon 1 circle"/>
          <p:cNvSpPr/>
          <p:nvPr/>
        </p:nvSpPr>
        <p:spPr>
          <a:xfrm>
            <a:off x="566928" y="1188720"/>
            <a:ext cx="402336" cy="402336"/>
          </a:xfrm>
          <a:prstGeom prst="ellipse">
            <a:avLst/>
          </a:prstGeom>
          <a:solidFill>
            <a:schemeClr val="accent2"/>
          </a:solidFill>
          <a:ln w="12700">
            <a:solidFill>
              <a:schemeClr val="accent2"/>
            </a:solidFill>
            <a:prstDash val="solid"/>
          </a:ln>
        </p:spPr>
      </p:sp>
      <p:pic>
        <p:nvPicPr>
          <p:cNvPr id="5" name="Image 0" descr="Challenge icon 1">    </p:cNvPr>
          <p:cNvPicPr>
            <a:picLocks noChangeAspect="1"/>
          </p:cNvPicPr>
          <p:nvPr/>
        </p:nvPicPr>
        <p:blipFill>
          <a:blip r:embed="rId1"/>
          <a:stretch>
            <a:fillRect/>
          </a:stretch>
        </p:blipFill>
        <p:spPr>
          <a:xfrm>
            <a:off x="667512" y="1289304"/>
            <a:ext cx="201168" cy="201168"/>
          </a:xfrm>
          <a:prstGeom prst="rect">
            <a:avLst/>
          </a:prstGeom>
        </p:spPr>
      </p:pic>
      <p:sp>
        <p:nvSpPr>
          <p:cNvPr id="6" name="Challenge 1"/>
          <p:cNvSpPr txBox="1"/>
          <p:nvPr/>
        </p:nvSpPr>
        <p:spPr>
          <a:xfrm>
            <a:off x="1143000" y="1097280"/>
            <a:ext cx="3749040" cy="585216"/>
          </a:xfrm>
          <a:prstGeom prst="rect">
            <a:avLst/>
          </a:prstGeom>
          <a:noFill/>
          <a:ln/>
        </p:spPr>
        <p:txBody>
          <a:bodyPr wrap="square" lIns="0" tIns="0" rIns="0" bIns="0" rtlCol="0" anchor="ctr"/>
          <a:lstStyle/>
          <a:p>
            <a:pPr indent="0" marL="0">
              <a:buNone/>
            </a:pPr>
            <a:r>
              <a:rPr lang="en-US" sz="1500" b="1" dirty="0">
                <a:solidFill>
                  <a:schemeClr val="tx2"/>
                </a:solidFill>
              </a:rPr>
              <a:t>Uneven utilization across facilities</a:t>
            </a:r>
            <a:endParaRPr lang="en-US" sz="1500" dirty="0"/>
          </a:p>
        </p:txBody>
      </p:sp>
      <p:sp>
        <p:nvSpPr>
          <p:cNvPr id="7" name="Challenge card 2"/>
          <p:cNvSpPr/>
          <p:nvPr/>
        </p:nvSpPr>
        <p:spPr>
          <a:xfrm>
            <a:off x="457200" y="1792224"/>
            <a:ext cx="4526280" cy="585216"/>
          </a:xfrm>
          <a:prstGeom prst="roundRect">
            <a:avLst>
              <a:gd name="adj" fmla="val 12500"/>
            </a:avLst>
          </a:prstGeom>
          <a:solidFill>
            <a:schemeClr val="bg2"/>
          </a:solidFill>
          <a:ln w="12700">
            <a:solidFill>
              <a:schemeClr val="bg2"/>
            </a:solidFill>
            <a:prstDash val="solid"/>
          </a:ln>
        </p:spPr>
      </p:sp>
      <p:sp>
        <p:nvSpPr>
          <p:cNvPr id="8" name="Challenge icon 2 circle"/>
          <p:cNvSpPr/>
          <p:nvPr/>
        </p:nvSpPr>
        <p:spPr>
          <a:xfrm>
            <a:off x="566928" y="1883664"/>
            <a:ext cx="402336" cy="402336"/>
          </a:xfrm>
          <a:prstGeom prst="ellipse">
            <a:avLst/>
          </a:prstGeom>
          <a:solidFill>
            <a:schemeClr val="accent2"/>
          </a:solidFill>
          <a:ln w="12700">
            <a:solidFill>
              <a:schemeClr val="accent2"/>
            </a:solidFill>
            <a:prstDash val="solid"/>
          </a:ln>
        </p:spPr>
      </p:sp>
      <p:pic>
        <p:nvPicPr>
          <p:cNvPr id="9" name="Image 1" descr="Challenge icon 2">    </p:cNvPr>
          <p:cNvPicPr>
            <a:picLocks noChangeAspect="1"/>
          </p:cNvPicPr>
          <p:nvPr/>
        </p:nvPicPr>
        <p:blipFill>
          <a:blip r:embed="rId2"/>
          <a:stretch>
            <a:fillRect/>
          </a:stretch>
        </p:blipFill>
        <p:spPr>
          <a:xfrm>
            <a:off x="667512" y="1984248"/>
            <a:ext cx="201168" cy="201168"/>
          </a:xfrm>
          <a:prstGeom prst="rect">
            <a:avLst/>
          </a:prstGeom>
        </p:spPr>
      </p:pic>
      <p:sp>
        <p:nvSpPr>
          <p:cNvPr id="10" name="Challenge 2"/>
          <p:cNvSpPr txBox="1"/>
          <p:nvPr/>
        </p:nvSpPr>
        <p:spPr>
          <a:xfrm>
            <a:off x="1143000" y="1792224"/>
            <a:ext cx="3749040" cy="585216"/>
          </a:xfrm>
          <a:prstGeom prst="rect">
            <a:avLst/>
          </a:prstGeom>
          <a:noFill/>
          <a:ln/>
        </p:spPr>
        <p:txBody>
          <a:bodyPr wrap="square" lIns="0" tIns="0" rIns="0" bIns="0" rtlCol="0" anchor="ctr"/>
          <a:lstStyle/>
          <a:p>
            <a:pPr indent="0" marL="0">
              <a:buNone/>
            </a:pPr>
            <a:r>
              <a:rPr lang="en-US" sz="1500" b="1" dirty="0">
                <a:solidFill>
                  <a:schemeClr val="tx2"/>
                </a:solidFill>
              </a:rPr>
              <a:t>Unused or underused spaces</a:t>
            </a:r>
            <a:endParaRPr lang="en-US" sz="1500" dirty="0"/>
          </a:p>
        </p:txBody>
      </p:sp>
      <p:sp>
        <p:nvSpPr>
          <p:cNvPr id="11" name="Challenge card 3"/>
          <p:cNvSpPr/>
          <p:nvPr/>
        </p:nvSpPr>
        <p:spPr>
          <a:xfrm>
            <a:off x="457200" y="2487168"/>
            <a:ext cx="4526280" cy="585216"/>
          </a:xfrm>
          <a:prstGeom prst="roundRect">
            <a:avLst>
              <a:gd name="adj" fmla="val 12500"/>
            </a:avLst>
          </a:prstGeom>
          <a:solidFill>
            <a:schemeClr val="bg2"/>
          </a:solidFill>
          <a:ln w="12700">
            <a:solidFill>
              <a:schemeClr val="bg2"/>
            </a:solidFill>
            <a:prstDash val="solid"/>
          </a:ln>
        </p:spPr>
      </p:sp>
      <p:sp>
        <p:nvSpPr>
          <p:cNvPr id="12" name="Challenge icon 3 circle"/>
          <p:cNvSpPr/>
          <p:nvPr/>
        </p:nvSpPr>
        <p:spPr>
          <a:xfrm>
            <a:off x="566928" y="2578608"/>
            <a:ext cx="402336" cy="402336"/>
          </a:xfrm>
          <a:prstGeom prst="ellipse">
            <a:avLst/>
          </a:prstGeom>
          <a:solidFill>
            <a:schemeClr val="accent2"/>
          </a:solidFill>
          <a:ln w="12700">
            <a:solidFill>
              <a:schemeClr val="accent2"/>
            </a:solidFill>
            <a:prstDash val="solid"/>
          </a:ln>
        </p:spPr>
      </p:sp>
      <p:pic>
        <p:nvPicPr>
          <p:cNvPr id="13" name="Image 2" descr="Challenge icon 3">    </p:cNvPr>
          <p:cNvPicPr>
            <a:picLocks noChangeAspect="1"/>
          </p:cNvPicPr>
          <p:nvPr/>
        </p:nvPicPr>
        <p:blipFill>
          <a:blip r:embed="rId3"/>
          <a:stretch>
            <a:fillRect/>
          </a:stretch>
        </p:blipFill>
        <p:spPr>
          <a:xfrm>
            <a:off x="667512" y="2679192"/>
            <a:ext cx="201168" cy="201168"/>
          </a:xfrm>
          <a:prstGeom prst="rect">
            <a:avLst/>
          </a:prstGeom>
        </p:spPr>
      </p:pic>
      <p:sp>
        <p:nvSpPr>
          <p:cNvPr id="14" name="Challenge 3"/>
          <p:cNvSpPr txBox="1"/>
          <p:nvPr/>
        </p:nvSpPr>
        <p:spPr>
          <a:xfrm>
            <a:off x="1143000" y="2487168"/>
            <a:ext cx="3749040" cy="585216"/>
          </a:xfrm>
          <a:prstGeom prst="rect">
            <a:avLst/>
          </a:prstGeom>
          <a:noFill/>
          <a:ln/>
        </p:spPr>
        <p:txBody>
          <a:bodyPr wrap="square" lIns="0" tIns="0" rIns="0" bIns="0" rtlCol="0" anchor="ctr"/>
          <a:lstStyle/>
          <a:p>
            <a:pPr indent="0" marL="0">
              <a:buNone/>
            </a:pPr>
            <a:r>
              <a:rPr lang="en-US" sz="1500" b="1" dirty="0">
                <a:solidFill>
                  <a:schemeClr val="tx2"/>
                </a:solidFill>
              </a:rPr>
              <a:t>Peak-hour crowding</a:t>
            </a:r>
            <a:endParaRPr lang="en-US" sz="1500" dirty="0"/>
          </a:p>
        </p:txBody>
      </p:sp>
      <p:sp>
        <p:nvSpPr>
          <p:cNvPr id="15" name="Challenge card 4"/>
          <p:cNvSpPr/>
          <p:nvPr/>
        </p:nvSpPr>
        <p:spPr>
          <a:xfrm>
            <a:off x="457200" y="3182112"/>
            <a:ext cx="4526280" cy="585216"/>
          </a:xfrm>
          <a:prstGeom prst="roundRect">
            <a:avLst>
              <a:gd name="adj" fmla="val 12500"/>
            </a:avLst>
          </a:prstGeom>
          <a:solidFill>
            <a:schemeClr val="bg2"/>
          </a:solidFill>
          <a:ln w="12700">
            <a:solidFill>
              <a:schemeClr val="bg2"/>
            </a:solidFill>
            <a:prstDash val="solid"/>
          </a:ln>
        </p:spPr>
      </p:sp>
      <p:sp>
        <p:nvSpPr>
          <p:cNvPr id="16" name="Challenge icon 4 circle"/>
          <p:cNvSpPr/>
          <p:nvPr/>
        </p:nvSpPr>
        <p:spPr>
          <a:xfrm>
            <a:off x="566928" y="3273552"/>
            <a:ext cx="402336" cy="402336"/>
          </a:xfrm>
          <a:prstGeom prst="ellipse">
            <a:avLst/>
          </a:prstGeom>
          <a:solidFill>
            <a:schemeClr val="accent2"/>
          </a:solidFill>
          <a:ln w="12700">
            <a:solidFill>
              <a:schemeClr val="accent2"/>
            </a:solidFill>
            <a:prstDash val="solid"/>
          </a:ln>
        </p:spPr>
      </p:sp>
      <p:pic>
        <p:nvPicPr>
          <p:cNvPr id="17" name="Image 3" descr="Challenge icon 4">    </p:cNvPr>
          <p:cNvPicPr>
            <a:picLocks noChangeAspect="1"/>
          </p:cNvPicPr>
          <p:nvPr/>
        </p:nvPicPr>
        <p:blipFill>
          <a:blip r:embed="rId4"/>
          <a:stretch>
            <a:fillRect/>
          </a:stretch>
        </p:blipFill>
        <p:spPr>
          <a:xfrm>
            <a:off x="667512" y="3374136"/>
            <a:ext cx="201168" cy="201168"/>
          </a:xfrm>
          <a:prstGeom prst="rect">
            <a:avLst/>
          </a:prstGeom>
        </p:spPr>
      </p:pic>
      <p:sp>
        <p:nvSpPr>
          <p:cNvPr id="18" name="Challenge 4"/>
          <p:cNvSpPr txBox="1"/>
          <p:nvPr/>
        </p:nvSpPr>
        <p:spPr>
          <a:xfrm>
            <a:off x="1143000" y="3182112"/>
            <a:ext cx="3749040" cy="585216"/>
          </a:xfrm>
          <a:prstGeom prst="rect">
            <a:avLst/>
          </a:prstGeom>
          <a:noFill/>
          <a:ln/>
        </p:spPr>
        <p:txBody>
          <a:bodyPr wrap="square" lIns="0" tIns="0" rIns="0" bIns="0" rtlCol="0" anchor="ctr"/>
          <a:lstStyle/>
          <a:p>
            <a:pPr indent="0" marL="0">
              <a:buNone/>
            </a:pPr>
            <a:r>
              <a:rPr lang="en-US" sz="1500" b="1" dirty="0">
                <a:solidFill>
                  <a:schemeClr val="tx2"/>
                </a:solidFill>
              </a:rPr>
              <a:t>Demand shifts in examination periods</a:t>
            </a:r>
            <a:endParaRPr lang="en-US" sz="1500" dirty="0"/>
          </a:p>
        </p:txBody>
      </p:sp>
      <p:sp>
        <p:nvSpPr>
          <p:cNvPr id="19" name="Challenge card 5"/>
          <p:cNvSpPr/>
          <p:nvPr/>
        </p:nvSpPr>
        <p:spPr>
          <a:xfrm>
            <a:off x="457200" y="3877056"/>
            <a:ext cx="4526280" cy="585216"/>
          </a:xfrm>
          <a:prstGeom prst="roundRect">
            <a:avLst>
              <a:gd name="adj" fmla="val 12500"/>
            </a:avLst>
          </a:prstGeom>
          <a:solidFill>
            <a:schemeClr val="bg2"/>
          </a:solidFill>
          <a:ln w="12700">
            <a:solidFill>
              <a:schemeClr val="bg2"/>
            </a:solidFill>
            <a:prstDash val="solid"/>
          </a:ln>
        </p:spPr>
      </p:sp>
      <p:sp>
        <p:nvSpPr>
          <p:cNvPr id="20" name="Challenge icon 5 circle"/>
          <p:cNvSpPr/>
          <p:nvPr/>
        </p:nvSpPr>
        <p:spPr>
          <a:xfrm>
            <a:off x="566928" y="3968496"/>
            <a:ext cx="402336" cy="402336"/>
          </a:xfrm>
          <a:prstGeom prst="ellipse">
            <a:avLst/>
          </a:prstGeom>
          <a:solidFill>
            <a:schemeClr val="accent2"/>
          </a:solidFill>
          <a:ln w="12700">
            <a:solidFill>
              <a:schemeClr val="accent2"/>
            </a:solidFill>
            <a:prstDash val="solid"/>
          </a:ln>
        </p:spPr>
      </p:sp>
      <p:pic>
        <p:nvPicPr>
          <p:cNvPr id="21" name="Image 4" descr="Challenge icon 5">    </p:cNvPr>
          <p:cNvPicPr>
            <a:picLocks noChangeAspect="1"/>
          </p:cNvPicPr>
          <p:nvPr/>
        </p:nvPicPr>
        <p:blipFill>
          <a:blip r:embed="rId5"/>
          <a:stretch>
            <a:fillRect/>
          </a:stretch>
        </p:blipFill>
        <p:spPr>
          <a:xfrm>
            <a:off x="667512" y="4069080"/>
            <a:ext cx="201168" cy="201168"/>
          </a:xfrm>
          <a:prstGeom prst="rect">
            <a:avLst/>
          </a:prstGeom>
        </p:spPr>
      </p:pic>
      <p:sp>
        <p:nvSpPr>
          <p:cNvPr id="22" name="Challenge 5"/>
          <p:cNvSpPr txBox="1"/>
          <p:nvPr/>
        </p:nvSpPr>
        <p:spPr>
          <a:xfrm>
            <a:off x="1143000" y="3877056"/>
            <a:ext cx="3749040" cy="585216"/>
          </a:xfrm>
          <a:prstGeom prst="rect">
            <a:avLst/>
          </a:prstGeom>
          <a:noFill/>
          <a:ln/>
        </p:spPr>
        <p:txBody>
          <a:bodyPr wrap="square" lIns="0" tIns="0" rIns="0" bIns="0" rtlCol="0" anchor="ctr"/>
          <a:lstStyle/>
          <a:p>
            <a:pPr indent="0" marL="0">
              <a:buNone/>
            </a:pPr>
            <a:r>
              <a:rPr lang="en-US" sz="1500" b="1" dirty="0">
                <a:solidFill>
                  <a:schemeClr val="tx2"/>
                </a:solidFill>
              </a:rPr>
              <a:t>Recurring maintenance issues</a:t>
            </a:r>
            <a:endParaRPr lang="en-US" sz="1500" dirty="0"/>
          </a:p>
        </p:txBody>
      </p:sp>
      <p:sp>
        <p:nvSpPr>
          <p:cNvPr id="23" name="Core problem card"/>
          <p:cNvSpPr/>
          <p:nvPr/>
        </p:nvSpPr>
        <p:spPr>
          <a:xfrm>
            <a:off x="5257800" y="1097280"/>
            <a:ext cx="3429000" cy="3474720"/>
          </a:xfrm>
          <a:prstGeom prst="roundRect">
            <a:avLst>
              <a:gd name="adj" fmla="val 2133"/>
            </a:avLst>
          </a:prstGeom>
          <a:solidFill>
            <a:schemeClr val="accent1"/>
          </a:solidFill>
          <a:ln w="12700">
            <a:solidFill>
              <a:schemeClr val="accent1"/>
            </a:solidFill>
            <a:prstDash val="solid"/>
          </a:ln>
        </p:spPr>
      </p:sp>
      <p:sp>
        <p:nvSpPr>
          <p:cNvPr id="24" name="Core label"/>
          <p:cNvSpPr txBox="1"/>
          <p:nvPr/>
        </p:nvSpPr>
        <p:spPr>
          <a:xfrm>
            <a:off x="5486400" y="1298448"/>
            <a:ext cx="3017520" cy="228600"/>
          </a:xfrm>
          <a:prstGeom prst="rect">
            <a:avLst/>
          </a:prstGeom>
          <a:noFill/>
          <a:ln/>
        </p:spPr>
        <p:txBody>
          <a:bodyPr wrap="square" lIns="0" tIns="0" rIns="0" bIns="0" rtlCol="0" anchor="ctr"/>
          <a:lstStyle/>
          <a:p>
            <a:pPr indent="0" marL="0">
              <a:buNone/>
            </a:pPr>
            <a:r>
              <a:rPr lang="en-US" sz="1100" b="1" spc="200" kern="0" dirty="0">
                <a:solidFill>
                  <a:schemeClr val="accent3"/>
                </a:solidFill>
              </a:rPr>
              <a:t>THE CORE QUESTION</a:t>
            </a:r>
            <a:endParaRPr lang="en-US" sz="1100" dirty="0"/>
          </a:p>
        </p:txBody>
      </p:sp>
      <p:sp>
        <p:nvSpPr>
          <p:cNvPr id="25" name="Core question"/>
          <p:cNvSpPr txBox="1"/>
          <p:nvPr/>
        </p:nvSpPr>
        <p:spPr>
          <a:xfrm>
            <a:off x="5486400" y="1645920"/>
            <a:ext cx="3017520" cy="1737360"/>
          </a:xfrm>
          <a:prstGeom prst="rect">
            <a:avLst/>
          </a:prstGeom>
          <a:noFill/>
          <a:ln/>
        </p:spPr>
        <p:txBody>
          <a:bodyPr wrap="square" lIns="0" tIns="0" rIns="0" bIns="0" rtlCol="0" anchor="t"/>
          <a:lstStyle/>
          <a:p>
            <a:pPr indent="0" marL="0">
              <a:buNone/>
            </a:pPr>
            <a:r>
              <a:rPr lang="en-US" sz="1800" b="1" dirty="0">
                <a:solidFill>
                  <a:schemeClr val="bg1"/>
                </a:solidFill>
              </a:rPr>
              <a:t>How can campus facility data be analysed to understand usage patterns and support better facility management decisions?</a:t>
            </a:r>
            <a:endParaRPr lang="en-US" sz="1800" dirty="0"/>
          </a:p>
        </p:txBody>
      </p:sp>
      <p:sp>
        <p:nvSpPr>
          <p:cNvPr id="26" name="Classrooms circle"/>
          <p:cNvSpPr/>
          <p:nvPr/>
        </p:nvSpPr>
        <p:spPr>
          <a:xfrm>
            <a:off x="5623560" y="3611880"/>
            <a:ext cx="502920" cy="502920"/>
          </a:xfrm>
          <a:prstGeom prst="ellipse">
            <a:avLst/>
          </a:prstGeom>
          <a:solidFill>
            <a:schemeClr val="bg1"/>
          </a:solidFill>
          <a:ln w="12700">
            <a:solidFill>
              <a:schemeClr val="bg1"/>
            </a:solidFill>
            <a:prstDash val="solid"/>
          </a:ln>
        </p:spPr>
      </p:sp>
      <p:pic>
        <p:nvPicPr>
          <p:cNvPr id="27" name="Image 5" descr="Classrooms">    </p:cNvPr>
          <p:cNvPicPr>
            <a:picLocks noChangeAspect="1"/>
          </p:cNvPicPr>
          <p:nvPr/>
        </p:nvPicPr>
        <p:blipFill>
          <a:blip r:embed="rId6"/>
          <a:stretch>
            <a:fillRect/>
          </a:stretch>
        </p:blipFill>
        <p:spPr>
          <a:xfrm>
            <a:off x="5742432" y="3730752"/>
            <a:ext cx="265176" cy="265176"/>
          </a:xfrm>
          <a:prstGeom prst="rect">
            <a:avLst/>
          </a:prstGeom>
        </p:spPr>
      </p:pic>
      <p:sp>
        <p:nvSpPr>
          <p:cNvPr id="28" name="Classrooms label"/>
          <p:cNvSpPr txBox="1"/>
          <p:nvPr/>
        </p:nvSpPr>
        <p:spPr>
          <a:xfrm>
            <a:off x="5440680" y="4160520"/>
            <a:ext cx="868680" cy="228600"/>
          </a:xfrm>
          <a:prstGeom prst="rect">
            <a:avLst/>
          </a:prstGeom>
          <a:noFill/>
          <a:ln/>
        </p:spPr>
        <p:txBody>
          <a:bodyPr wrap="square" lIns="0" tIns="0" rIns="0" bIns="0" rtlCol="0" anchor="ctr"/>
          <a:lstStyle/>
          <a:p>
            <a:pPr algn="ctr" indent="0" marL="0">
              <a:buNone/>
            </a:pPr>
            <a:r>
              <a:rPr lang="en-US" sz="1200" dirty="0">
                <a:solidFill>
                  <a:schemeClr val="bg1"/>
                </a:solidFill>
              </a:rPr>
              <a:t>Classrooms</a:t>
            </a:r>
            <a:endParaRPr lang="en-US" sz="1200" dirty="0"/>
          </a:p>
        </p:txBody>
      </p:sp>
      <p:sp>
        <p:nvSpPr>
          <p:cNvPr id="29" name="Labs circle"/>
          <p:cNvSpPr/>
          <p:nvPr/>
        </p:nvSpPr>
        <p:spPr>
          <a:xfrm>
            <a:off x="6647688" y="3611880"/>
            <a:ext cx="502920" cy="502920"/>
          </a:xfrm>
          <a:prstGeom prst="ellipse">
            <a:avLst/>
          </a:prstGeom>
          <a:solidFill>
            <a:schemeClr val="bg1"/>
          </a:solidFill>
          <a:ln w="12700">
            <a:solidFill>
              <a:schemeClr val="bg1"/>
            </a:solidFill>
            <a:prstDash val="solid"/>
          </a:ln>
        </p:spPr>
      </p:sp>
      <p:pic>
        <p:nvPicPr>
          <p:cNvPr id="30" name="Image 6" descr="Labs">    </p:cNvPr>
          <p:cNvPicPr>
            <a:picLocks noChangeAspect="1"/>
          </p:cNvPicPr>
          <p:nvPr/>
        </p:nvPicPr>
        <p:blipFill>
          <a:blip r:embed="rId7"/>
          <a:stretch>
            <a:fillRect/>
          </a:stretch>
        </p:blipFill>
        <p:spPr>
          <a:xfrm>
            <a:off x="6766560" y="3730752"/>
            <a:ext cx="265176" cy="265176"/>
          </a:xfrm>
          <a:prstGeom prst="rect">
            <a:avLst/>
          </a:prstGeom>
        </p:spPr>
      </p:pic>
      <p:sp>
        <p:nvSpPr>
          <p:cNvPr id="31" name="Labs label"/>
          <p:cNvSpPr txBox="1"/>
          <p:nvPr/>
        </p:nvSpPr>
        <p:spPr>
          <a:xfrm>
            <a:off x="6464808" y="4160520"/>
            <a:ext cx="868680" cy="228600"/>
          </a:xfrm>
          <a:prstGeom prst="rect">
            <a:avLst/>
          </a:prstGeom>
          <a:noFill/>
          <a:ln/>
        </p:spPr>
        <p:txBody>
          <a:bodyPr wrap="square" lIns="0" tIns="0" rIns="0" bIns="0" rtlCol="0" anchor="ctr"/>
          <a:lstStyle/>
          <a:p>
            <a:pPr algn="ctr" indent="0" marL="0">
              <a:buNone/>
            </a:pPr>
            <a:r>
              <a:rPr lang="en-US" sz="1200" dirty="0">
                <a:solidFill>
                  <a:schemeClr val="bg1"/>
                </a:solidFill>
              </a:rPr>
              <a:t>Labs</a:t>
            </a:r>
            <a:endParaRPr lang="en-US" sz="1200" dirty="0"/>
          </a:p>
        </p:txBody>
      </p:sp>
      <p:sp>
        <p:nvSpPr>
          <p:cNvPr id="32" name="Library circle"/>
          <p:cNvSpPr/>
          <p:nvPr/>
        </p:nvSpPr>
        <p:spPr>
          <a:xfrm>
            <a:off x="7671816" y="3611880"/>
            <a:ext cx="502920" cy="502920"/>
          </a:xfrm>
          <a:prstGeom prst="ellipse">
            <a:avLst/>
          </a:prstGeom>
          <a:solidFill>
            <a:schemeClr val="bg1"/>
          </a:solidFill>
          <a:ln w="12700">
            <a:solidFill>
              <a:schemeClr val="bg1"/>
            </a:solidFill>
            <a:prstDash val="solid"/>
          </a:ln>
        </p:spPr>
      </p:sp>
      <p:pic>
        <p:nvPicPr>
          <p:cNvPr id="33" name="Image 7" descr="Library">    </p:cNvPr>
          <p:cNvPicPr>
            <a:picLocks noChangeAspect="1"/>
          </p:cNvPicPr>
          <p:nvPr/>
        </p:nvPicPr>
        <p:blipFill>
          <a:blip r:embed="rId8"/>
          <a:stretch>
            <a:fillRect/>
          </a:stretch>
        </p:blipFill>
        <p:spPr>
          <a:xfrm>
            <a:off x="7790688" y="3730752"/>
            <a:ext cx="265176" cy="265176"/>
          </a:xfrm>
          <a:prstGeom prst="rect">
            <a:avLst/>
          </a:prstGeom>
        </p:spPr>
      </p:pic>
      <p:sp>
        <p:nvSpPr>
          <p:cNvPr id="34" name="Library label"/>
          <p:cNvSpPr txBox="1"/>
          <p:nvPr/>
        </p:nvSpPr>
        <p:spPr>
          <a:xfrm>
            <a:off x="7488936" y="4160520"/>
            <a:ext cx="868680" cy="228600"/>
          </a:xfrm>
          <a:prstGeom prst="rect">
            <a:avLst/>
          </a:prstGeom>
          <a:noFill/>
          <a:ln/>
        </p:spPr>
        <p:txBody>
          <a:bodyPr wrap="square" lIns="0" tIns="0" rIns="0" bIns="0" rtlCol="0" anchor="ctr"/>
          <a:lstStyle/>
          <a:p>
            <a:pPr algn="ctr" indent="0" marL="0">
              <a:buNone/>
            </a:pPr>
            <a:r>
              <a:rPr lang="en-US" sz="1200" dirty="0">
                <a:solidFill>
                  <a:schemeClr val="bg1"/>
                </a:solidFill>
              </a:rPr>
              <a:t>Library</a:t>
            </a:r>
            <a:endParaRPr lang="en-US" sz="1200" dirty="0"/>
          </a:p>
        </p:txBody>
      </p:sp>
      <p:sp>
        <p:nvSpPr>
          <p:cNvPr id="25" name="Slide Number Placeholder 0"/>
          <p:cNvSpPr>
            <a:spLocks noGrp="1"/>
          </p:cNvSpPr>
          <p:nvPr>
            <p:ph type="sldNum" sz="quarter" idx="4294967295"/>
          </p:nvPr>
        </p:nvSpPr>
        <p:spPr>
          <a:xfrm>
            <a:off x="8046720" y="4828032"/>
            <a:ext cx="6400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Objectives and Business Questions</a:t>
            </a:r>
            <a:endParaRPr lang="en-US" sz="2800" dirty="0"/>
          </a:p>
        </p:txBody>
      </p:sp>
      <p:sp>
        <p:nvSpPr>
          <p:cNvPr id="3" name="Question card 1"/>
          <p:cNvSpPr/>
          <p:nvPr/>
        </p:nvSpPr>
        <p:spPr>
          <a:xfrm>
            <a:off x="457200" y="1097280"/>
            <a:ext cx="2560320" cy="1600200"/>
          </a:xfrm>
          <a:prstGeom prst="roundRect">
            <a:avLst>
              <a:gd name="adj" fmla="val 4571"/>
            </a:avLst>
          </a:prstGeom>
          <a:solidFill>
            <a:schemeClr val="bg2"/>
          </a:solidFill>
          <a:ln w="12700">
            <a:solidFill>
              <a:schemeClr val="bg2"/>
            </a:solidFill>
            <a:prstDash val="solid"/>
          </a:ln>
        </p:spPr>
      </p:sp>
      <p:sp>
        <p:nvSpPr>
          <p:cNvPr id="4" name="Question icon 1 circle"/>
          <p:cNvSpPr/>
          <p:nvPr/>
        </p:nvSpPr>
        <p:spPr>
          <a:xfrm>
            <a:off x="640080" y="1261872"/>
            <a:ext cx="457200" cy="457200"/>
          </a:xfrm>
          <a:prstGeom prst="ellipse">
            <a:avLst/>
          </a:prstGeom>
          <a:solidFill>
            <a:schemeClr val="accent2"/>
          </a:solidFill>
          <a:ln w="12700">
            <a:solidFill>
              <a:schemeClr val="accent2"/>
            </a:solidFill>
            <a:prstDash val="solid"/>
          </a:ln>
        </p:spPr>
      </p:sp>
      <p:pic>
        <p:nvPicPr>
          <p:cNvPr id="5" name="Image 0" descr="Question icon 1">    </p:cNvPr>
          <p:cNvPicPr>
            <a:picLocks noChangeAspect="1"/>
          </p:cNvPicPr>
          <p:nvPr/>
        </p:nvPicPr>
        <p:blipFill>
          <a:blip r:embed="rId1"/>
          <a:stretch>
            <a:fillRect/>
          </a:stretch>
        </p:blipFill>
        <p:spPr>
          <a:xfrm>
            <a:off x="758952" y="1380744"/>
            <a:ext cx="219456" cy="219456"/>
          </a:xfrm>
          <a:prstGeom prst="rect">
            <a:avLst/>
          </a:prstGeom>
        </p:spPr>
      </p:pic>
      <p:sp>
        <p:nvSpPr>
          <p:cNvPr id="6" name="Q number 1"/>
          <p:cNvSpPr txBox="1"/>
          <p:nvPr/>
        </p:nvSpPr>
        <p:spPr>
          <a:xfrm>
            <a:off x="1234440" y="1261872"/>
            <a:ext cx="914400" cy="457200"/>
          </a:xfrm>
          <a:prstGeom prst="rect">
            <a:avLst/>
          </a:prstGeom>
          <a:noFill/>
          <a:ln/>
        </p:spPr>
        <p:txBody>
          <a:bodyPr wrap="square" lIns="0" tIns="0" rIns="0" bIns="0" rtlCol="0" anchor="ctr"/>
          <a:lstStyle/>
          <a:p>
            <a:pPr indent="0" marL="0">
              <a:buNone/>
            </a:pPr>
            <a:r>
              <a:rPr lang="en-US" sz="2000" b="1" dirty="0">
                <a:solidFill>
                  <a:schemeClr val="accent2"/>
                </a:solidFill>
              </a:rPr>
              <a:t>Q1</a:t>
            </a:r>
            <a:endParaRPr lang="en-US" sz="2000" dirty="0"/>
          </a:p>
        </p:txBody>
      </p:sp>
      <p:sp>
        <p:nvSpPr>
          <p:cNvPr id="7" name="Question 1"/>
          <p:cNvSpPr txBox="1"/>
          <p:nvPr/>
        </p:nvSpPr>
        <p:spPr>
          <a:xfrm>
            <a:off x="640080" y="1847088"/>
            <a:ext cx="2194560" cy="731520"/>
          </a:xfrm>
          <a:prstGeom prst="rect">
            <a:avLst/>
          </a:prstGeom>
          <a:noFill/>
          <a:ln/>
        </p:spPr>
        <p:txBody>
          <a:bodyPr wrap="square" lIns="0" tIns="0" rIns="0" bIns="0" rtlCol="0" anchor="t"/>
          <a:lstStyle/>
          <a:p>
            <a:pPr indent="0" marL="0">
              <a:buNone/>
            </a:pPr>
            <a:r>
              <a:rPr lang="en-US" sz="1500" b="1" dirty="0">
                <a:solidFill>
                  <a:schemeClr val="tx2"/>
                </a:solidFill>
              </a:rPr>
              <a:t>Which facilities are the most used?</a:t>
            </a:r>
            <a:endParaRPr lang="en-US" sz="1500" dirty="0"/>
          </a:p>
        </p:txBody>
      </p:sp>
      <p:sp>
        <p:nvSpPr>
          <p:cNvPr id="8" name="Question card 2"/>
          <p:cNvSpPr/>
          <p:nvPr/>
        </p:nvSpPr>
        <p:spPr>
          <a:xfrm>
            <a:off x="3291840" y="1097280"/>
            <a:ext cx="2560320" cy="1600200"/>
          </a:xfrm>
          <a:prstGeom prst="roundRect">
            <a:avLst>
              <a:gd name="adj" fmla="val 4571"/>
            </a:avLst>
          </a:prstGeom>
          <a:solidFill>
            <a:schemeClr val="bg2"/>
          </a:solidFill>
          <a:ln w="12700">
            <a:solidFill>
              <a:schemeClr val="bg2"/>
            </a:solidFill>
            <a:prstDash val="solid"/>
          </a:ln>
        </p:spPr>
      </p:sp>
      <p:sp>
        <p:nvSpPr>
          <p:cNvPr id="9" name="Question icon 2 circle"/>
          <p:cNvSpPr/>
          <p:nvPr/>
        </p:nvSpPr>
        <p:spPr>
          <a:xfrm>
            <a:off x="3474720" y="1261872"/>
            <a:ext cx="457200" cy="457200"/>
          </a:xfrm>
          <a:prstGeom prst="ellipse">
            <a:avLst/>
          </a:prstGeom>
          <a:solidFill>
            <a:schemeClr val="accent2"/>
          </a:solidFill>
          <a:ln w="12700">
            <a:solidFill>
              <a:schemeClr val="accent2"/>
            </a:solidFill>
            <a:prstDash val="solid"/>
          </a:ln>
        </p:spPr>
      </p:sp>
      <p:pic>
        <p:nvPicPr>
          <p:cNvPr id="10" name="Image 1" descr="Question icon 2">    </p:cNvPr>
          <p:cNvPicPr>
            <a:picLocks noChangeAspect="1"/>
          </p:cNvPicPr>
          <p:nvPr/>
        </p:nvPicPr>
        <p:blipFill>
          <a:blip r:embed="rId2"/>
          <a:stretch>
            <a:fillRect/>
          </a:stretch>
        </p:blipFill>
        <p:spPr>
          <a:xfrm>
            <a:off x="3593592" y="1380744"/>
            <a:ext cx="219456" cy="219456"/>
          </a:xfrm>
          <a:prstGeom prst="rect">
            <a:avLst/>
          </a:prstGeom>
        </p:spPr>
      </p:pic>
      <p:sp>
        <p:nvSpPr>
          <p:cNvPr id="11" name="Q number 2"/>
          <p:cNvSpPr txBox="1"/>
          <p:nvPr/>
        </p:nvSpPr>
        <p:spPr>
          <a:xfrm>
            <a:off x="4069080" y="1261872"/>
            <a:ext cx="914400" cy="457200"/>
          </a:xfrm>
          <a:prstGeom prst="rect">
            <a:avLst/>
          </a:prstGeom>
          <a:noFill/>
          <a:ln/>
        </p:spPr>
        <p:txBody>
          <a:bodyPr wrap="square" lIns="0" tIns="0" rIns="0" bIns="0" rtlCol="0" anchor="ctr"/>
          <a:lstStyle/>
          <a:p>
            <a:pPr indent="0" marL="0">
              <a:buNone/>
            </a:pPr>
            <a:r>
              <a:rPr lang="en-US" sz="2000" b="1" dirty="0">
                <a:solidFill>
                  <a:schemeClr val="accent2"/>
                </a:solidFill>
              </a:rPr>
              <a:t>Q2</a:t>
            </a:r>
            <a:endParaRPr lang="en-US" sz="2000" dirty="0"/>
          </a:p>
        </p:txBody>
      </p:sp>
      <p:sp>
        <p:nvSpPr>
          <p:cNvPr id="12" name="Question 2"/>
          <p:cNvSpPr txBox="1"/>
          <p:nvPr/>
        </p:nvSpPr>
        <p:spPr>
          <a:xfrm>
            <a:off x="3474720" y="1847088"/>
            <a:ext cx="2194560" cy="731520"/>
          </a:xfrm>
          <a:prstGeom prst="rect">
            <a:avLst/>
          </a:prstGeom>
          <a:noFill/>
          <a:ln/>
        </p:spPr>
        <p:txBody>
          <a:bodyPr wrap="square" lIns="0" tIns="0" rIns="0" bIns="0" rtlCol="0" anchor="t"/>
          <a:lstStyle/>
          <a:p>
            <a:pPr indent="0" marL="0">
              <a:buNone/>
            </a:pPr>
            <a:r>
              <a:rPr lang="en-US" sz="1500" b="1" dirty="0">
                <a:solidFill>
                  <a:schemeClr val="tx2"/>
                </a:solidFill>
              </a:rPr>
              <a:t>When are the peak utilization periods?</a:t>
            </a:r>
            <a:endParaRPr lang="en-US" sz="1500" dirty="0"/>
          </a:p>
        </p:txBody>
      </p:sp>
      <p:sp>
        <p:nvSpPr>
          <p:cNvPr id="13" name="Question card 3"/>
          <p:cNvSpPr/>
          <p:nvPr/>
        </p:nvSpPr>
        <p:spPr>
          <a:xfrm>
            <a:off x="6126480" y="1097280"/>
            <a:ext cx="2560320" cy="1600200"/>
          </a:xfrm>
          <a:prstGeom prst="roundRect">
            <a:avLst>
              <a:gd name="adj" fmla="val 4571"/>
            </a:avLst>
          </a:prstGeom>
          <a:solidFill>
            <a:schemeClr val="bg2"/>
          </a:solidFill>
          <a:ln w="12700">
            <a:solidFill>
              <a:schemeClr val="bg2"/>
            </a:solidFill>
            <a:prstDash val="solid"/>
          </a:ln>
        </p:spPr>
      </p:sp>
      <p:sp>
        <p:nvSpPr>
          <p:cNvPr id="14" name="Question icon 3 circle"/>
          <p:cNvSpPr/>
          <p:nvPr/>
        </p:nvSpPr>
        <p:spPr>
          <a:xfrm>
            <a:off x="6309360" y="1261872"/>
            <a:ext cx="457200" cy="457200"/>
          </a:xfrm>
          <a:prstGeom prst="ellipse">
            <a:avLst/>
          </a:prstGeom>
          <a:solidFill>
            <a:schemeClr val="accent2"/>
          </a:solidFill>
          <a:ln w="12700">
            <a:solidFill>
              <a:schemeClr val="accent2"/>
            </a:solidFill>
            <a:prstDash val="solid"/>
          </a:ln>
        </p:spPr>
      </p:sp>
      <p:pic>
        <p:nvPicPr>
          <p:cNvPr id="15" name="Image 2" descr="Question icon 3">    </p:cNvPr>
          <p:cNvPicPr>
            <a:picLocks noChangeAspect="1"/>
          </p:cNvPicPr>
          <p:nvPr/>
        </p:nvPicPr>
        <p:blipFill>
          <a:blip r:embed="rId3"/>
          <a:stretch>
            <a:fillRect/>
          </a:stretch>
        </p:blipFill>
        <p:spPr>
          <a:xfrm>
            <a:off x="6428232" y="1380744"/>
            <a:ext cx="219456" cy="219456"/>
          </a:xfrm>
          <a:prstGeom prst="rect">
            <a:avLst/>
          </a:prstGeom>
        </p:spPr>
      </p:pic>
      <p:sp>
        <p:nvSpPr>
          <p:cNvPr id="16" name="Q number 3"/>
          <p:cNvSpPr txBox="1"/>
          <p:nvPr/>
        </p:nvSpPr>
        <p:spPr>
          <a:xfrm>
            <a:off x="6903720" y="1261872"/>
            <a:ext cx="914400" cy="457200"/>
          </a:xfrm>
          <a:prstGeom prst="rect">
            <a:avLst/>
          </a:prstGeom>
          <a:noFill/>
          <a:ln/>
        </p:spPr>
        <p:txBody>
          <a:bodyPr wrap="square" lIns="0" tIns="0" rIns="0" bIns="0" rtlCol="0" anchor="ctr"/>
          <a:lstStyle/>
          <a:p>
            <a:pPr indent="0" marL="0">
              <a:buNone/>
            </a:pPr>
            <a:r>
              <a:rPr lang="en-US" sz="2000" b="1" dirty="0">
                <a:solidFill>
                  <a:schemeClr val="accent2"/>
                </a:solidFill>
              </a:rPr>
              <a:t>Q3</a:t>
            </a:r>
            <a:endParaRPr lang="en-US" sz="2000" dirty="0"/>
          </a:p>
        </p:txBody>
      </p:sp>
      <p:sp>
        <p:nvSpPr>
          <p:cNvPr id="17" name="Question 3"/>
          <p:cNvSpPr txBox="1"/>
          <p:nvPr/>
        </p:nvSpPr>
        <p:spPr>
          <a:xfrm>
            <a:off x="6309360" y="1847088"/>
            <a:ext cx="2194560" cy="731520"/>
          </a:xfrm>
          <a:prstGeom prst="rect">
            <a:avLst/>
          </a:prstGeom>
          <a:noFill/>
          <a:ln/>
        </p:spPr>
        <p:txBody>
          <a:bodyPr wrap="square" lIns="0" tIns="0" rIns="0" bIns="0" rtlCol="0" anchor="t"/>
          <a:lstStyle/>
          <a:p>
            <a:pPr indent="0" marL="0">
              <a:buNone/>
            </a:pPr>
            <a:r>
              <a:rPr lang="en-US" sz="1500" b="1" dirty="0">
                <a:solidFill>
                  <a:schemeClr val="tx2"/>
                </a:solidFill>
              </a:rPr>
              <a:t>Which rooms are underused?</a:t>
            </a:r>
            <a:endParaRPr lang="en-US" sz="1500" dirty="0"/>
          </a:p>
        </p:txBody>
      </p:sp>
      <p:sp>
        <p:nvSpPr>
          <p:cNvPr id="18" name="Question card 4"/>
          <p:cNvSpPr/>
          <p:nvPr/>
        </p:nvSpPr>
        <p:spPr>
          <a:xfrm>
            <a:off x="457200" y="2880360"/>
            <a:ext cx="2560320" cy="1600200"/>
          </a:xfrm>
          <a:prstGeom prst="roundRect">
            <a:avLst>
              <a:gd name="adj" fmla="val 4571"/>
            </a:avLst>
          </a:prstGeom>
          <a:solidFill>
            <a:schemeClr val="bg2"/>
          </a:solidFill>
          <a:ln w="12700">
            <a:solidFill>
              <a:schemeClr val="bg2"/>
            </a:solidFill>
            <a:prstDash val="solid"/>
          </a:ln>
        </p:spPr>
      </p:sp>
      <p:sp>
        <p:nvSpPr>
          <p:cNvPr id="19" name="Question icon 4 circle"/>
          <p:cNvSpPr/>
          <p:nvPr/>
        </p:nvSpPr>
        <p:spPr>
          <a:xfrm>
            <a:off x="640080" y="3044952"/>
            <a:ext cx="457200" cy="457200"/>
          </a:xfrm>
          <a:prstGeom prst="ellipse">
            <a:avLst/>
          </a:prstGeom>
          <a:solidFill>
            <a:schemeClr val="accent2"/>
          </a:solidFill>
          <a:ln w="12700">
            <a:solidFill>
              <a:schemeClr val="accent2"/>
            </a:solidFill>
            <a:prstDash val="solid"/>
          </a:ln>
        </p:spPr>
      </p:sp>
      <p:pic>
        <p:nvPicPr>
          <p:cNvPr id="20" name="Image 3" descr="Question icon 4">    </p:cNvPr>
          <p:cNvPicPr>
            <a:picLocks noChangeAspect="1"/>
          </p:cNvPicPr>
          <p:nvPr/>
        </p:nvPicPr>
        <p:blipFill>
          <a:blip r:embed="rId4"/>
          <a:stretch>
            <a:fillRect/>
          </a:stretch>
        </p:blipFill>
        <p:spPr>
          <a:xfrm>
            <a:off x="758952" y="3163824"/>
            <a:ext cx="219456" cy="219456"/>
          </a:xfrm>
          <a:prstGeom prst="rect">
            <a:avLst/>
          </a:prstGeom>
        </p:spPr>
      </p:pic>
      <p:sp>
        <p:nvSpPr>
          <p:cNvPr id="21" name="Q number 4"/>
          <p:cNvSpPr txBox="1"/>
          <p:nvPr/>
        </p:nvSpPr>
        <p:spPr>
          <a:xfrm>
            <a:off x="1234440" y="3044952"/>
            <a:ext cx="914400" cy="457200"/>
          </a:xfrm>
          <a:prstGeom prst="rect">
            <a:avLst/>
          </a:prstGeom>
          <a:noFill/>
          <a:ln/>
        </p:spPr>
        <p:txBody>
          <a:bodyPr wrap="square" lIns="0" tIns="0" rIns="0" bIns="0" rtlCol="0" anchor="ctr"/>
          <a:lstStyle/>
          <a:p>
            <a:pPr indent="0" marL="0">
              <a:buNone/>
            </a:pPr>
            <a:r>
              <a:rPr lang="en-US" sz="2000" b="1" dirty="0">
                <a:solidFill>
                  <a:schemeClr val="accent2"/>
                </a:solidFill>
              </a:rPr>
              <a:t>Q4</a:t>
            </a:r>
            <a:endParaRPr lang="en-US" sz="2000" dirty="0"/>
          </a:p>
        </p:txBody>
      </p:sp>
      <p:sp>
        <p:nvSpPr>
          <p:cNvPr id="22" name="Question 4"/>
          <p:cNvSpPr txBox="1"/>
          <p:nvPr/>
        </p:nvSpPr>
        <p:spPr>
          <a:xfrm>
            <a:off x="640080" y="3630168"/>
            <a:ext cx="2194560" cy="731520"/>
          </a:xfrm>
          <a:prstGeom prst="rect">
            <a:avLst/>
          </a:prstGeom>
          <a:noFill/>
          <a:ln/>
        </p:spPr>
        <p:txBody>
          <a:bodyPr wrap="square" lIns="0" tIns="0" rIns="0" bIns="0" rtlCol="0" anchor="t"/>
          <a:lstStyle/>
          <a:p>
            <a:pPr indent="0" marL="0">
              <a:buNone/>
            </a:pPr>
            <a:r>
              <a:rPr lang="en-US" sz="1500" b="1" dirty="0">
                <a:solidFill>
                  <a:schemeClr val="tx2"/>
                </a:solidFill>
              </a:rPr>
              <a:t>How does exam-period usage compare with non-exam periods?</a:t>
            </a:r>
            <a:endParaRPr lang="en-US" sz="1500" dirty="0"/>
          </a:p>
        </p:txBody>
      </p:sp>
      <p:sp>
        <p:nvSpPr>
          <p:cNvPr id="23" name="Question card 5"/>
          <p:cNvSpPr/>
          <p:nvPr/>
        </p:nvSpPr>
        <p:spPr>
          <a:xfrm>
            <a:off x="3291840" y="2880360"/>
            <a:ext cx="2560320" cy="1600200"/>
          </a:xfrm>
          <a:prstGeom prst="roundRect">
            <a:avLst>
              <a:gd name="adj" fmla="val 4571"/>
            </a:avLst>
          </a:prstGeom>
          <a:solidFill>
            <a:schemeClr val="bg2"/>
          </a:solidFill>
          <a:ln w="12700">
            <a:solidFill>
              <a:schemeClr val="bg2"/>
            </a:solidFill>
            <a:prstDash val="solid"/>
          </a:ln>
        </p:spPr>
      </p:sp>
      <p:sp>
        <p:nvSpPr>
          <p:cNvPr id="24" name="Question icon 5 circle"/>
          <p:cNvSpPr/>
          <p:nvPr/>
        </p:nvSpPr>
        <p:spPr>
          <a:xfrm>
            <a:off x="3474720" y="3044952"/>
            <a:ext cx="457200" cy="457200"/>
          </a:xfrm>
          <a:prstGeom prst="ellipse">
            <a:avLst/>
          </a:prstGeom>
          <a:solidFill>
            <a:schemeClr val="accent2"/>
          </a:solidFill>
          <a:ln w="12700">
            <a:solidFill>
              <a:schemeClr val="accent2"/>
            </a:solidFill>
            <a:prstDash val="solid"/>
          </a:ln>
        </p:spPr>
      </p:sp>
      <p:pic>
        <p:nvPicPr>
          <p:cNvPr id="25" name="Image 4" descr="Question icon 5">    </p:cNvPr>
          <p:cNvPicPr>
            <a:picLocks noChangeAspect="1"/>
          </p:cNvPicPr>
          <p:nvPr/>
        </p:nvPicPr>
        <p:blipFill>
          <a:blip r:embed="rId5"/>
          <a:stretch>
            <a:fillRect/>
          </a:stretch>
        </p:blipFill>
        <p:spPr>
          <a:xfrm>
            <a:off x="3593592" y="3163824"/>
            <a:ext cx="219456" cy="219456"/>
          </a:xfrm>
          <a:prstGeom prst="rect">
            <a:avLst/>
          </a:prstGeom>
        </p:spPr>
      </p:pic>
      <p:sp>
        <p:nvSpPr>
          <p:cNvPr id="26" name="Q number 5"/>
          <p:cNvSpPr txBox="1"/>
          <p:nvPr/>
        </p:nvSpPr>
        <p:spPr>
          <a:xfrm>
            <a:off x="4069080" y="3044952"/>
            <a:ext cx="914400" cy="457200"/>
          </a:xfrm>
          <a:prstGeom prst="rect">
            <a:avLst/>
          </a:prstGeom>
          <a:noFill/>
          <a:ln/>
        </p:spPr>
        <p:txBody>
          <a:bodyPr wrap="square" lIns="0" tIns="0" rIns="0" bIns="0" rtlCol="0" anchor="ctr"/>
          <a:lstStyle/>
          <a:p>
            <a:pPr indent="0" marL="0">
              <a:buNone/>
            </a:pPr>
            <a:r>
              <a:rPr lang="en-US" sz="2000" b="1" dirty="0">
                <a:solidFill>
                  <a:schemeClr val="accent2"/>
                </a:solidFill>
              </a:rPr>
              <a:t>Q5</a:t>
            </a:r>
            <a:endParaRPr lang="en-US" sz="2000" dirty="0"/>
          </a:p>
        </p:txBody>
      </p:sp>
      <p:sp>
        <p:nvSpPr>
          <p:cNvPr id="27" name="Question 5"/>
          <p:cNvSpPr txBox="1"/>
          <p:nvPr/>
        </p:nvSpPr>
        <p:spPr>
          <a:xfrm>
            <a:off x="3474720" y="3630168"/>
            <a:ext cx="2194560" cy="731520"/>
          </a:xfrm>
          <a:prstGeom prst="rect">
            <a:avLst/>
          </a:prstGeom>
          <a:noFill/>
          <a:ln/>
        </p:spPr>
        <p:txBody>
          <a:bodyPr wrap="square" lIns="0" tIns="0" rIns="0" bIns="0" rtlCol="0" anchor="t"/>
          <a:lstStyle/>
          <a:p>
            <a:pPr indent="0" marL="0">
              <a:buNone/>
            </a:pPr>
            <a:r>
              <a:rPr lang="en-US" sz="1500" b="1" dirty="0">
                <a:solidFill>
                  <a:schemeClr val="tx2"/>
                </a:solidFill>
              </a:rPr>
              <a:t>Which facilities have frequent maintenance records?</a:t>
            </a:r>
            <a:endParaRPr lang="en-US" sz="1500" dirty="0"/>
          </a:p>
        </p:txBody>
      </p:sp>
      <p:sp>
        <p:nvSpPr>
          <p:cNvPr id="28" name="Question card 6"/>
          <p:cNvSpPr/>
          <p:nvPr/>
        </p:nvSpPr>
        <p:spPr>
          <a:xfrm>
            <a:off x="6126480" y="2880360"/>
            <a:ext cx="2560320" cy="1600200"/>
          </a:xfrm>
          <a:prstGeom prst="roundRect">
            <a:avLst>
              <a:gd name="adj" fmla="val 4571"/>
            </a:avLst>
          </a:prstGeom>
          <a:solidFill>
            <a:schemeClr val="bg2"/>
          </a:solidFill>
          <a:ln w="12700">
            <a:solidFill>
              <a:schemeClr val="bg2"/>
            </a:solidFill>
            <a:prstDash val="solid"/>
          </a:ln>
        </p:spPr>
      </p:sp>
      <p:sp>
        <p:nvSpPr>
          <p:cNvPr id="29" name="Question icon 6 circle"/>
          <p:cNvSpPr/>
          <p:nvPr/>
        </p:nvSpPr>
        <p:spPr>
          <a:xfrm>
            <a:off x="6309360" y="3044952"/>
            <a:ext cx="457200" cy="457200"/>
          </a:xfrm>
          <a:prstGeom prst="ellipse">
            <a:avLst/>
          </a:prstGeom>
          <a:solidFill>
            <a:schemeClr val="accent2"/>
          </a:solidFill>
          <a:ln w="12700">
            <a:solidFill>
              <a:schemeClr val="accent2"/>
            </a:solidFill>
            <a:prstDash val="solid"/>
          </a:ln>
        </p:spPr>
      </p:sp>
      <p:pic>
        <p:nvPicPr>
          <p:cNvPr id="30" name="Image 5" descr="Question icon 6">    </p:cNvPr>
          <p:cNvPicPr>
            <a:picLocks noChangeAspect="1"/>
          </p:cNvPicPr>
          <p:nvPr/>
        </p:nvPicPr>
        <p:blipFill>
          <a:blip r:embed="rId6"/>
          <a:stretch>
            <a:fillRect/>
          </a:stretch>
        </p:blipFill>
        <p:spPr>
          <a:xfrm>
            <a:off x="6428232" y="3163824"/>
            <a:ext cx="219456" cy="219456"/>
          </a:xfrm>
          <a:prstGeom prst="rect">
            <a:avLst/>
          </a:prstGeom>
        </p:spPr>
      </p:pic>
      <p:sp>
        <p:nvSpPr>
          <p:cNvPr id="31" name="Q number 6"/>
          <p:cNvSpPr txBox="1"/>
          <p:nvPr/>
        </p:nvSpPr>
        <p:spPr>
          <a:xfrm>
            <a:off x="6903720" y="3044952"/>
            <a:ext cx="914400" cy="457200"/>
          </a:xfrm>
          <a:prstGeom prst="rect">
            <a:avLst/>
          </a:prstGeom>
          <a:noFill/>
          <a:ln/>
        </p:spPr>
        <p:txBody>
          <a:bodyPr wrap="square" lIns="0" tIns="0" rIns="0" bIns="0" rtlCol="0" anchor="ctr"/>
          <a:lstStyle/>
          <a:p>
            <a:pPr indent="0" marL="0">
              <a:buNone/>
            </a:pPr>
            <a:r>
              <a:rPr lang="en-US" sz="2000" b="1" dirty="0">
                <a:solidFill>
                  <a:schemeClr val="accent2"/>
                </a:solidFill>
              </a:rPr>
              <a:t>Q6</a:t>
            </a:r>
            <a:endParaRPr lang="en-US" sz="2000" dirty="0"/>
          </a:p>
        </p:txBody>
      </p:sp>
      <p:sp>
        <p:nvSpPr>
          <p:cNvPr id="32" name="Question 6"/>
          <p:cNvSpPr txBox="1"/>
          <p:nvPr/>
        </p:nvSpPr>
        <p:spPr>
          <a:xfrm>
            <a:off x="6309360" y="3630168"/>
            <a:ext cx="2194560" cy="731520"/>
          </a:xfrm>
          <a:prstGeom prst="rect">
            <a:avLst/>
          </a:prstGeom>
          <a:noFill/>
          <a:ln/>
        </p:spPr>
        <p:txBody>
          <a:bodyPr wrap="square" lIns="0" tIns="0" rIns="0" bIns="0" rtlCol="0" anchor="t"/>
          <a:lstStyle/>
          <a:p>
            <a:pPr indent="0" marL="0">
              <a:buNone/>
            </a:pPr>
            <a:r>
              <a:rPr lang="en-US" sz="1500" b="1" dirty="0">
                <a:solidFill>
                  <a:schemeClr val="tx2"/>
                </a:solidFill>
              </a:rPr>
              <a:t>Does facility capacity match actual occupancy?</a:t>
            </a:r>
            <a:endParaRPr lang="en-US" sz="1500" dirty="0"/>
          </a:p>
        </p:txBody>
      </p:sp>
      <p:sp>
        <p:nvSpPr>
          <p:cNvPr id="25" name="Slide Number Placeholder 0"/>
          <p:cNvSpPr>
            <a:spLocks noGrp="1"/>
          </p:cNvSpPr>
          <p:nvPr>
            <p:ph type="sldNum" sz="quarter" idx="4294967295"/>
          </p:nvPr>
        </p:nvSpPr>
        <p:spPr>
          <a:xfrm>
            <a:off x="8046720" y="4828032"/>
            <a:ext cx="6400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Dataset Overview</a:t>
            </a:r>
            <a:endParaRPr lang="en-US" sz="2800" dirty="0"/>
          </a:p>
        </p:txBody>
      </p:sp>
      <p:graphicFrame>
        <p:nvGraphicFramePr>
          <p:cNvPr id="5" name="Dataset table"/>
          <p:cNvGraphicFramePr>
            <a:graphicFrameLocks noGrp="1"/>
          </p:cNvGraphicFramePr>
          <p:nvPr>
            <p:extLst>
              <p:ext uri="{D42A27DB-BD31-4B8C-83A1-F6EECF244321}">
                <p14:modId xmlns:p14="http://schemas.microsoft.com/office/powerpoint/2010/main" val="1579011935"/>
              </p:ext>
            </p:extLst>
          </p:nvPr>
        </p:nvGraphicFramePr>
        <p:xfrm>
          <a:off x="457200" y="1097280"/>
          <a:ext cx="5394960" cy="914400"/>
        </p:xfrm>
        <a:graphic>
          <a:graphicData uri="http://schemas.openxmlformats.org/drawingml/2006/table">
            <a:tbl>
              <a:tblPr/>
              <a:tblGrid>
                <a:gridCol w="1920240"/>
                <a:gridCol w="3474720"/>
              </a:tblGrid>
              <a:tr h="502920">
                <a:tc>
                  <a:txBody>
                    <a:bodyPr/>
                    <a:lstStyle/>
                    <a:p>
                      <a:pPr indent="0" marL="0">
                        <a:buNone/>
                      </a:pPr>
                      <a:r>
                        <a:rPr lang="en-US" sz="1400" b="1" dirty="0">
                          <a:solidFill>
                            <a:srgbClr val="FFFFFF"/>
                          </a:solidFill>
                        </a:rPr>
                        <a:t>Dataset</a:t>
                      </a:r>
                      <a:endParaRPr lang="en-US" sz="14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Main Purpose</a:t>
                      </a:r>
                      <a:endParaRPr lang="en-US" sz="14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0B2545"/>
                    </a:solidFill>
                  </a:tcPr>
                </a:tc>
              </a:tr>
              <a:tr h="502920">
                <a:tc>
                  <a:txBody>
                    <a:bodyPr/>
                    <a:lstStyle/>
                    <a:p>
                      <a:pPr indent="0" marL="0">
                        <a:buNone/>
                      </a:pPr>
                      <a:r>
                        <a:rPr lang="en-US" sz="1400" b="1" dirty="0">
                          <a:solidFill>
                            <a:srgbClr val="0F8B8D"/>
                          </a:solidFill>
                        </a:rPr>
                        <a:t>bookings.csv</a:t>
                      </a:r>
                      <a:endParaRPr lang="en-US" sz="14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FFFFFF"/>
                    </a:solidFill>
                  </a:tcPr>
                </a:tc>
                <a:tc>
                  <a:txBody>
                    <a:bodyPr/>
                    <a:lstStyle/>
                    <a:p>
                      <a:pPr indent="0" marL="0">
                        <a:buNone/>
                      </a:pPr>
                      <a:r>
                        <a:rPr lang="en-US" sz="1400" dirty="0">
                          <a:solidFill>
                            <a:srgbClr val="16212E"/>
                          </a:solidFill>
                        </a:rPr>
                        <a:t>Booking schedules and purposes</a:t>
                      </a:r>
                      <a:endParaRPr lang="en-US" sz="14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0F8B8D"/>
                          </a:solidFill>
                        </a:rPr>
                        <a:t>facilities.csv</a:t>
                      </a:r>
                      <a:endParaRPr lang="en-US" sz="14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EEF5FB"/>
                    </a:solidFill>
                  </a:tcPr>
                </a:tc>
                <a:tc>
                  <a:txBody>
                    <a:bodyPr/>
                    <a:lstStyle/>
                    <a:p>
                      <a:pPr indent="0" marL="0">
                        <a:buNone/>
                      </a:pPr>
                      <a:r>
                        <a:rPr lang="en-US" sz="1400" dirty="0">
                          <a:solidFill>
                            <a:srgbClr val="16212E"/>
                          </a:solidFill>
                        </a:rPr>
                        <a:t>Facility types and capacities</a:t>
                      </a:r>
                      <a:endParaRPr lang="en-US" sz="14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EEF5FB"/>
                    </a:solidFill>
                  </a:tcPr>
                </a:tc>
              </a:tr>
              <a:tr h="502920">
                <a:tc>
                  <a:txBody>
                    <a:bodyPr/>
                    <a:lstStyle/>
                    <a:p>
                      <a:pPr indent="0" marL="0">
                        <a:buNone/>
                      </a:pPr>
                      <a:r>
                        <a:rPr lang="en-US" sz="1400" b="1" dirty="0">
                          <a:solidFill>
                            <a:srgbClr val="0F8B8D"/>
                          </a:solidFill>
                        </a:rPr>
                        <a:t>occupancy.csv</a:t>
                      </a:r>
                      <a:endParaRPr lang="en-US" sz="14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FFFFFF"/>
                    </a:solidFill>
                  </a:tcPr>
                </a:tc>
                <a:tc>
                  <a:txBody>
                    <a:bodyPr/>
                    <a:lstStyle/>
                    <a:p>
                      <a:pPr indent="0" marL="0">
                        <a:buNone/>
                      </a:pPr>
                      <a:r>
                        <a:rPr lang="en-US" sz="1400" dirty="0">
                          <a:solidFill>
                            <a:srgbClr val="16212E"/>
                          </a:solidFill>
                        </a:rPr>
                        <a:t>Occupancy readings</a:t>
                      </a:r>
                      <a:endParaRPr lang="en-US" sz="14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0F8B8D"/>
                          </a:solidFill>
                        </a:rPr>
                        <a:t>calendar.csv</a:t>
                      </a:r>
                      <a:endParaRPr lang="en-US" sz="14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EEF5FB"/>
                    </a:solidFill>
                  </a:tcPr>
                </a:tc>
                <a:tc>
                  <a:txBody>
                    <a:bodyPr/>
                    <a:lstStyle/>
                    <a:p>
                      <a:pPr indent="0" marL="0">
                        <a:buNone/>
                      </a:pPr>
                      <a:r>
                        <a:rPr lang="en-US" sz="1400" dirty="0">
                          <a:solidFill>
                            <a:srgbClr val="16212E"/>
                          </a:solidFill>
                        </a:rPr>
                        <a:t>Working days, events, and exams</a:t>
                      </a:r>
                      <a:endParaRPr lang="en-US" sz="14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EEF5FB"/>
                    </a:solidFill>
                  </a:tcPr>
                </a:tc>
              </a:tr>
              <a:tr h="502920">
                <a:tc>
                  <a:txBody>
                    <a:bodyPr/>
                    <a:lstStyle/>
                    <a:p>
                      <a:pPr indent="0" marL="0">
                        <a:buNone/>
                      </a:pPr>
                      <a:r>
                        <a:rPr lang="en-US" sz="1400" b="1" dirty="0">
                          <a:solidFill>
                            <a:srgbClr val="0F8B8D"/>
                          </a:solidFill>
                        </a:rPr>
                        <a:t>maintenance.csv</a:t>
                      </a:r>
                      <a:endParaRPr lang="en-US" sz="14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FFFFFF"/>
                    </a:solidFill>
                  </a:tcPr>
                </a:tc>
                <a:tc>
                  <a:txBody>
                    <a:bodyPr/>
                    <a:lstStyle/>
                    <a:p>
                      <a:pPr indent="0" marL="0">
                        <a:buNone/>
                      </a:pPr>
                      <a:r>
                        <a:rPr lang="en-US" sz="1400" dirty="0">
                          <a:solidFill>
                            <a:srgbClr val="16212E"/>
                          </a:solidFill>
                        </a:rPr>
                        <a:t>Maintenance records and downtime</a:t>
                      </a:r>
                      <a:endParaRPr lang="en-US" sz="14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FFFFFF"/>
                    </a:solidFill>
                  </a:tcPr>
                </a:tc>
              </a:tr>
            </a:tbl>
          </a:graphicData>
        </a:graphic>
      </p:graphicFrame>
      <p:sp>
        <p:nvSpPr>
          <p:cNvPr id="4" name="Dataset caption"/>
          <p:cNvSpPr txBox="1"/>
          <p:nvPr/>
        </p:nvSpPr>
        <p:spPr>
          <a:xfrm>
            <a:off x="457200" y="4297680"/>
            <a:ext cx="5394960" cy="274320"/>
          </a:xfrm>
          <a:prstGeom prst="rect">
            <a:avLst/>
          </a:prstGeom>
          <a:noFill/>
          <a:ln/>
        </p:spPr>
        <p:txBody>
          <a:bodyPr wrap="square" lIns="0" tIns="0" rIns="0" bIns="0" rtlCol="0" anchor="ctr"/>
          <a:lstStyle/>
          <a:p>
            <a:pPr indent="0" marL="0">
              <a:buNone/>
            </a:pPr>
            <a:r>
              <a:rPr lang="en-US" sz="1200" i="1" dirty="0">
                <a:solidFill>
                  <a:schemeClr val="accent6"/>
                </a:solidFill>
              </a:rPr>
              <a:t>Five CSV files, loaded and analysed in Python (Google Colab) and Excel.</a:t>
            </a:r>
            <a:endParaRPr lang="en-US" sz="1200" dirty="0"/>
          </a:p>
        </p:txBody>
      </p:sp>
      <p:sp>
        <p:nvSpPr>
          <p:cNvPr id="5" name="Synthetic data card"/>
          <p:cNvSpPr/>
          <p:nvPr/>
        </p:nvSpPr>
        <p:spPr>
          <a:xfrm>
            <a:off x="6126480" y="1097280"/>
            <a:ext cx="2560320" cy="3474720"/>
          </a:xfrm>
          <a:prstGeom prst="roundRect">
            <a:avLst>
              <a:gd name="adj" fmla="val 2857"/>
            </a:avLst>
          </a:prstGeom>
          <a:solidFill>
            <a:schemeClr val="bg2"/>
          </a:solidFill>
          <a:ln w="12700">
            <a:solidFill>
              <a:schemeClr val="bg2"/>
            </a:solidFill>
            <a:prstDash val="solid"/>
          </a:ln>
        </p:spPr>
      </p:sp>
      <p:sp>
        <p:nvSpPr>
          <p:cNvPr id="6" name="Database icon circle"/>
          <p:cNvSpPr/>
          <p:nvPr/>
        </p:nvSpPr>
        <p:spPr>
          <a:xfrm>
            <a:off x="6355080" y="1325880"/>
            <a:ext cx="548640" cy="548640"/>
          </a:xfrm>
          <a:prstGeom prst="ellipse">
            <a:avLst/>
          </a:prstGeom>
          <a:solidFill>
            <a:schemeClr val="accent2"/>
          </a:solidFill>
          <a:ln w="12700">
            <a:solidFill>
              <a:schemeClr val="accent2"/>
            </a:solidFill>
            <a:prstDash val="solid"/>
          </a:ln>
        </p:spPr>
      </p:sp>
      <p:pic>
        <p:nvPicPr>
          <p:cNvPr id="7" name="Image 0" descr="Database icon">    </p:cNvPr>
          <p:cNvPicPr>
            <a:picLocks noChangeAspect="1"/>
          </p:cNvPicPr>
          <p:nvPr/>
        </p:nvPicPr>
        <p:blipFill>
          <a:blip r:embed="rId1"/>
          <a:stretch>
            <a:fillRect/>
          </a:stretch>
        </p:blipFill>
        <p:spPr>
          <a:xfrm>
            <a:off x="6497726" y="1468526"/>
            <a:ext cx="263347" cy="263347"/>
          </a:xfrm>
          <a:prstGeom prst="rect">
            <a:avLst/>
          </a:prstGeom>
        </p:spPr>
      </p:pic>
      <p:sp>
        <p:nvSpPr>
          <p:cNvPr id="8" name="Synthetic title"/>
          <p:cNvSpPr txBox="1"/>
          <p:nvPr/>
        </p:nvSpPr>
        <p:spPr>
          <a:xfrm>
            <a:off x="6355080" y="2057400"/>
            <a:ext cx="2103120" cy="640080"/>
          </a:xfrm>
          <a:prstGeom prst="rect">
            <a:avLst/>
          </a:prstGeom>
          <a:noFill/>
          <a:ln/>
        </p:spPr>
        <p:txBody>
          <a:bodyPr wrap="square" lIns="0" tIns="0" rIns="0" bIns="0" rtlCol="0" anchor="t"/>
          <a:lstStyle/>
          <a:p>
            <a:pPr indent="0" marL="0">
              <a:buNone/>
            </a:pPr>
            <a:r>
              <a:rPr lang="en-US" sz="1800" b="1" dirty="0">
                <a:solidFill>
                  <a:schemeClr val="tx2"/>
                </a:solidFill>
              </a:rPr>
              <a:t>Synthetic / sample data</a:t>
            </a:r>
            <a:endParaRPr lang="en-US" sz="1800" dirty="0"/>
          </a:p>
        </p:txBody>
      </p:sp>
      <p:sp>
        <p:nvSpPr>
          <p:cNvPr id="9" name="Synthetic text"/>
          <p:cNvSpPr txBox="1"/>
          <p:nvPr/>
        </p:nvSpPr>
        <p:spPr>
          <a:xfrm>
            <a:off x="6355080" y="2743200"/>
            <a:ext cx="2103120" cy="822960"/>
          </a:xfrm>
          <a:prstGeom prst="rect">
            <a:avLst/>
          </a:prstGeom>
          <a:noFill/>
          <a:ln/>
        </p:spPr>
        <p:txBody>
          <a:bodyPr wrap="square" lIns="0" tIns="0" rIns="0" bIns="0" rtlCol="0" anchor="t"/>
          <a:lstStyle/>
          <a:p>
            <a:pPr indent="0" marL="0">
              <a:buNone/>
            </a:pPr>
            <a:r>
              <a:rPr lang="en-US" sz="1400" dirty="0">
                <a:solidFill>
                  <a:schemeClr val="tx1"/>
                </a:solidFill>
              </a:rPr>
              <a:t>Created for analysis. These are not actual live campus records.</a:t>
            </a:r>
            <a:endParaRPr lang="en-US" sz="1400" dirty="0"/>
          </a:p>
        </p:txBody>
      </p:sp>
      <p:sp>
        <p:nvSpPr>
          <p:cNvPr id="10" name="No stats note"/>
          <p:cNvSpPr txBox="1"/>
          <p:nvPr/>
        </p:nvSpPr>
        <p:spPr>
          <a:xfrm>
            <a:off x="6355080" y="3657600"/>
            <a:ext cx="2103120" cy="731520"/>
          </a:xfrm>
          <a:prstGeom prst="rect">
            <a:avLst/>
          </a:prstGeom>
          <a:noFill/>
          <a:ln/>
        </p:spPr>
        <p:txBody>
          <a:bodyPr wrap="square" lIns="0" tIns="0" rIns="0" bIns="0" rtlCol="0" anchor="t"/>
          <a:lstStyle/>
          <a:p>
            <a:pPr indent="0" marL="0">
              <a:buNone/>
            </a:pPr>
            <a:r>
              <a:rPr lang="en-US" sz="1200" i="1" dirty="0">
                <a:solidFill>
                  <a:schemeClr val="accent6"/>
                </a:solidFill>
              </a:rPr>
              <a:t>No record counts or real-world statistics are reported here.</a:t>
            </a:r>
            <a:endParaRPr lang="en-US" sz="1200" dirty="0"/>
          </a:p>
        </p:txBody>
      </p:sp>
      <p:sp>
        <p:nvSpPr>
          <p:cNvPr id="25" name="Slide Number Placeholder 0"/>
          <p:cNvSpPr>
            <a:spLocks noGrp="1"/>
          </p:cNvSpPr>
          <p:nvPr>
            <p:ph type="sldNum" sz="quarter" idx="4294967295"/>
          </p:nvPr>
        </p:nvSpPr>
        <p:spPr>
          <a:xfrm>
            <a:off x="8046720" y="4828032"/>
            <a:ext cx="6400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Methodology and Workflow</a:t>
            </a:r>
            <a:endParaRPr lang="en-US" sz="2800" dirty="0"/>
          </a:p>
        </p:txBody>
      </p:sp>
      <p:sp>
        <p:nvSpPr>
          <p:cNvPr id="3" name="Step card 1"/>
          <p:cNvSpPr/>
          <p:nvPr/>
        </p:nvSpPr>
        <p:spPr>
          <a:xfrm>
            <a:off x="457200" y="1143000"/>
            <a:ext cx="1554480" cy="914400"/>
          </a:xfrm>
          <a:prstGeom prst="roundRect">
            <a:avLst>
              <a:gd name="adj" fmla="val 8000"/>
            </a:avLst>
          </a:prstGeom>
          <a:solidFill>
            <a:schemeClr val="bg2"/>
          </a:solidFill>
          <a:ln w="12700">
            <a:solidFill>
              <a:schemeClr val="bg2"/>
            </a:solidFill>
            <a:prstDash val="solid"/>
          </a:ln>
        </p:spPr>
      </p:sp>
      <p:sp>
        <p:nvSpPr>
          <p:cNvPr id="4" name="Step number circle 1"/>
          <p:cNvSpPr/>
          <p:nvPr/>
        </p:nvSpPr>
        <p:spPr>
          <a:xfrm>
            <a:off x="566928" y="1234440"/>
            <a:ext cx="274320" cy="274320"/>
          </a:xfrm>
          <a:prstGeom prst="ellipse">
            <a:avLst/>
          </a:prstGeom>
          <a:solidFill>
            <a:schemeClr val="accent2"/>
          </a:solidFill>
          <a:ln w="12700">
            <a:solidFill>
              <a:schemeClr val="accent2"/>
            </a:solidFill>
            <a:prstDash val="solid"/>
          </a:ln>
        </p:spPr>
      </p:sp>
      <p:sp>
        <p:nvSpPr>
          <p:cNvPr id="5" name="Step number 1"/>
          <p:cNvSpPr txBox="1"/>
          <p:nvPr/>
        </p:nvSpPr>
        <p:spPr>
          <a:xfrm>
            <a:off x="566928" y="123444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Step 1"/>
          <p:cNvSpPr txBox="1"/>
          <p:nvPr/>
        </p:nvSpPr>
        <p:spPr>
          <a:xfrm>
            <a:off x="566928" y="1545336"/>
            <a:ext cx="1353312" cy="457200"/>
          </a:xfrm>
          <a:prstGeom prst="rect">
            <a:avLst/>
          </a:prstGeom>
          <a:noFill/>
          <a:ln/>
        </p:spPr>
        <p:txBody>
          <a:bodyPr wrap="square" lIns="0" tIns="0" rIns="0" bIns="0" rtlCol="0" anchor="t"/>
          <a:lstStyle/>
          <a:p>
            <a:pPr indent="0" marL="0">
              <a:buNone/>
            </a:pPr>
            <a:r>
              <a:rPr lang="en-US" sz="1300" b="1" dirty="0">
                <a:solidFill>
                  <a:schemeClr val="tx2"/>
                </a:solidFill>
              </a:rPr>
              <a:t>Data Loading</a:t>
            </a:r>
            <a:endParaRPr lang="en-US" sz="1300" dirty="0"/>
          </a:p>
        </p:txBody>
      </p:sp>
      <p:sp>
        <p:nvSpPr>
          <p:cNvPr id="7" name="Arrow 1"/>
          <p:cNvSpPr/>
          <p:nvPr/>
        </p:nvSpPr>
        <p:spPr>
          <a:xfrm>
            <a:off x="2066544" y="1481328"/>
            <a:ext cx="146304" cy="237744"/>
          </a:xfrm>
          <a:prstGeom prst="chevron">
            <a:avLst/>
          </a:prstGeom>
          <a:solidFill>
            <a:schemeClr val="accent3"/>
          </a:solidFill>
          <a:ln w="12700">
            <a:solidFill>
              <a:schemeClr val="accent3"/>
            </a:solidFill>
            <a:prstDash val="solid"/>
          </a:ln>
        </p:spPr>
      </p:sp>
      <p:sp>
        <p:nvSpPr>
          <p:cNvPr id="8" name="Step card 2"/>
          <p:cNvSpPr/>
          <p:nvPr/>
        </p:nvSpPr>
        <p:spPr>
          <a:xfrm>
            <a:off x="2286000" y="1143000"/>
            <a:ext cx="1554480" cy="914400"/>
          </a:xfrm>
          <a:prstGeom prst="roundRect">
            <a:avLst>
              <a:gd name="adj" fmla="val 8000"/>
            </a:avLst>
          </a:prstGeom>
          <a:solidFill>
            <a:schemeClr val="bg2"/>
          </a:solidFill>
          <a:ln w="12700">
            <a:solidFill>
              <a:schemeClr val="bg2"/>
            </a:solidFill>
            <a:prstDash val="solid"/>
          </a:ln>
        </p:spPr>
      </p:sp>
      <p:sp>
        <p:nvSpPr>
          <p:cNvPr id="9" name="Step number circle 2"/>
          <p:cNvSpPr/>
          <p:nvPr/>
        </p:nvSpPr>
        <p:spPr>
          <a:xfrm>
            <a:off x="2395728" y="1234440"/>
            <a:ext cx="274320" cy="274320"/>
          </a:xfrm>
          <a:prstGeom prst="ellipse">
            <a:avLst/>
          </a:prstGeom>
          <a:solidFill>
            <a:schemeClr val="accent2"/>
          </a:solidFill>
          <a:ln w="12700">
            <a:solidFill>
              <a:schemeClr val="accent2"/>
            </a:solidFill>
            <a:prstDash val="solid"/>
          </a:ln>
        </p:spPr>
      </p:sp>
      <p:sp>
        <p:nvSpPr>
          <p:cNvPr id="10" name="Step number 2"/>
          <p:cNvSpPr txBox="1"/>
          <p:nvPr/>
        </p:nvSpPr>
        <p:spPr>
          <a:xfrm>
            <a:off x="2395728" y="123444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Step 2"/>
          <p:cNvSpPr txBox="1"/>
          <p:nvPr/>
        </p:nvSpPr>
        <p:spPr>
          <a:xfrm>
            <a:off x="2395728" y="1545336"/>
            <a:ext cx="1353312" cy="457200"/>
          </a:xfrm>
          <a:prstGeom prst="rect">
            <a:avLst/>
          </a:prstGeom>
          <a:noFill/>
          <a:ln/>
        </p:spPr>
        <p:txBody>
          <a:bodyPr wrap="square" lIns="0" tIns="0" rIns="0" bIns="0" rtlCol="0" anchor="t"/>
          <a:lstStyle/>
          <a:p>
            <a:pPr indent="0" marL="0">
              <a:buNone/>
            </a:pPr>
            <a:r>
              <a:rPr lang="en-US" sz="1300" b="1" dirty="0">
                <a:solidFill>
                  <a:schemeClr val="tx2"/>
                </a:solidFill>
              </a:rPr>
              <a:t>Data Understanding</a:t>
            </a:r>
            <a:endParaRPr lang="en-US" sz="1300" dirty="0"/>
          </a:p>
        </p:txBody>
      </p:sp>
      <p:sp>
        <p:nvSpPr>
          <p:cNvPr id="12" name="Arrow 2"/>
          <p:cNvSpPr/>
          <p:nvPr/>
        </p:nvSpPr>
        <p:spPr>
          <a:xfrm>
            <a:off x="3895344" y="1481328"/>
            <a:ext cx="146304" cy="237744"/>
          </a:xfrm>
          <a:prstGeom prst="chevron">
            <a:avLst/>
          </a:prstGeom>
          <a:solidFill>
            <a:schemeClr val="accent3"/>
          </a:solidFill>
          <a:ln w="12700">
            <a:solidFill>
              <a:schemeClr val="accent3"/>
            </a:solidFill>
            <a:prstDash val="solid"/>
          </a:ln>
        </p:spPr>
      </p:sp>
      <p:sp>
        <p:nvSpPr>
          <p:cNvPr id="13" name="Step card 3"/>
          <p:cNvSpPr/>
          <p:nvPr/>
        </p:nvSpPr>
        <p:spPr>
          <a:xfrm>
            <a:off x="4114800" y="1143000"/>
            <a:ext cx="1554480" cy="914400"/>
          </a:xfrm>
          <a:prstGeom prst="roundRect">
            <a:avLst>
              <a:gd name="adj" fmla="val 8000"/>
            </a:avLst>
          </a:prstGeom>
          <a:solidFill>
            <a:schemeClr val="bg2"/>
          </a:solidFill>
          <a:ln w="12700">
            <a:solidFill>
              <a:schemeClr val="bg2"/>
            </a:solidFill>
            <a:prstDash val="solid"/>
          </a:ln>
        </p:spPr>
      </p:sp>
      <p:sp>
        <p:nvSpPr>
          <p:cNvPr id="14" name="Step number circle 3"/>
          <p:cNvSpPr/>
          <p:nvPr/>
        </p:nvSpPr>
        <p:spPr>
          <a:xfrm>
            <a:off x="4224528" y="1234440"/>
            <a:ext cx="274320" cy="274320"/>
          </a:xfrm>
          <a:prstGeom prst="ellipse">
            <a:avLst/>
          </a:prstGeom>
          <a:solidFill>
            <a:schemeClr val="accent2"/>
          </a:solidFill>
          <a:ln w="12700">
            <a:solidFill>
              <a:schemeClr val="accent2"/>
            </a:solidFill>
            <a:prstDash val="solid"/>
          </a:ln>
        </p:spPr>
      </p:sp>
      <p:sp>
        <p:nvSpPr>
          <p:cNvPr id="15" name="Step number 3"/>
          <p:cNvSpPr txBox="1"/>
          <p:nvPr/>
        </p:nvSpPr>
        <p:spPr>
          <a:xfrm>
            <a:off x="4224528" y="123444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6" name="Step 3"/>
          <p:cNvSpPr txBox="1"/>
          <p:nvPr/>
        </p:nvSpPr>
        <p:spPr>
          <a:xfrm>
            <a:off x="4224528" y="1545336"/>
            <a:ext cx="1353312" cy="457200"/>
          </a:xfrm>
          <a:prstGeom prst="rect">
            <a:avLst/>
          </a:prstGeom>
          <a:noFill/>
          <a:ln/>
        </p:spPr>
        <p:txBody>
          <a:bodyPr wrap="square" lIns="0" tIns="0" rIns="0" bIns="0" rtlCol="0" anchor="t"/>
          <a:lstStyle/>
          <a:p>
            <a:pPr indent="0" marL="0">
              <a:buNone/>
            </a:pPr>
            <a:r>
              <a:rPr lang="en-US" sz="1300" b="1" dirty="0">
                <a:solidFill>
                  <a:schemeClr val="tx2"/>
                </a:solidFill>
              </a:rPr>
              <a:t>Data Cleaning</a:t>
            </a:r>
            <a:endParaRPr lang="en-US" sz="1300" dirty="0"/>
          </a:p>
        </p:txBody>
      </p:sp>
      <p:sp>
        <p:nvSpPr>
          <p:cNvPr id="17" name="Step card 4"/>
          <p:cNvSpPr/>
          <p:nvPr/>
        </p:nvSpPr>
        <p:spPr>
          <a:xfrm>
            <a:off x="457200" y="2331720"/>
            <a:ext cx="1554480" cy="914400"/>
          </a:xfrm>
          <a:prstGeom prst="roundRect">
            <a:avLst>
              <a:gd name="adj" fmla="val 8000"/>
            </a:avLst>
          </a:prstGeom>
          <a:solidFill>
            <a:schemeClr val="bg2"/>
          </a:solidFill>
          <a:ln w="12700">
            <a:solidFill>
              <a:schemeClr val="bg2"/>
            </a:solidFill>
            <a:prstDash val="solid"/>
          </a:ln>
        </p:spPr>
      </p:sp>
      <p:sp>
        <p:nvSpPr>
          <p:cNvPr id="18" name="Step number circle 4"/>
          <p:cNvSpPr/>
          <p:nvPr/>
        </p:nvSpPr>
        <p:spPr>
          <a:xfrm>
            <a:off x="566928" y="2423160"/>
            <a:ext cx="274320" cy="274320"/>
          </a:xfrm>
          <a:prstGeom prst="ellipse">
            <a:avLst/>
          </a:prstGeom>
          <a:solidFill>
            <a:schemeClr val="accent2"/>
          </a:solidFill>
          <a:ln w="12700">
            <a:solidFill>
              <a:schemeClr val="accent2"/>
            </a:solidFill>
            <a:prstDash val="solid"/>
          </a:ln>
        </p:spPr>
      </p:sp>
      <p:sp>
        <p:nvSpPr>
          <p:cNvPr id="19" name="Step number 4"/>
          <p:cNvSpPr txBox="1"/>
          <p:nvPr/>
        </p:nvSpPr>
        <p:spPr>
          <a:xfrm>
            <a:off x="566928" y="242316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0" name="Step 4"/>
          <p:cNvSpPr txBox="1"/>
          <p:nvPr/>
        </p:nvSpPr>
        <p:spPr>
          <a:xfrm>
            <a:off x="566928" y="2734056"/>
            <a:ext cx="1353312" cy="457200"/>
          </a:xfrm>
          <a:prstGeom prst="rect">
            <a:avLst/>
          </a:prstGeom>
          <a:noFill/>
          <a:ln/>
        </p:spPr>
        <p:txBody>
          <a:bodyPr wrap="square" lIns="0" tIns="0" rIns="0" bIns="0" rtlCol="0" anchor="t"/>
          <a:lstStyle/>
          <a:p>
            <a:pPr indent="0" marL="0">
              <a:buNone/>
            </a:pPr>
            <a:r>
              <a:rPr lang="en-US" sz="1300" b="1" dirty="0">
                <a:solidFill>
                  <a:schemeClr val="tx2"/>
                </a:solidFill>
              </a:rPr>
              <a:t>Dataset Integration</a:t>
            </a:r>
            <a:endParaRPr lang="en-US" sz="1300" dirty="0"/>
          </a:p>
        </p:txBody>
      </p:sp>
      <p:sp>
        <p:nvSpPr>
          <p:cNvPr id="21" name="Arrow 4"/>
          <p:cNvSpPr/>
          <p:nvPr/>
        </p:nvSpPr>
        <p:spPr>
          <a:xfrm>
            <a:off x="2066544" y="2670048"/>
            <a:ext cx="146304" cy="237744"/>
          </a:xfrm>
          <a:prstGeom prst="chevron">
            <a:avLst/>
          </a:prstGeom>
          <a:solidFill>
            <a:schemeClr val="accent3"/>
          </a:solidFill>
          <a:ln w="12700">
            <a:solidFill>
              <a:schemeClr val="accent3"/>
            </a:solidFill>
            <a:prstDash val="solid"/>
          </a:ln>
        </p:spPr>
      </p:sp>
      <p:sp>
        <p:nvSpPr>
          <p:cNvPr id="22" name="Step card 5"/>
          <p:cNvSpPr/>
          <p:nvPr/>
        </p:nvSpPr>
        <p:spPr>
          <a:xfrm>
            <a:off x="2286000" y="2331720"/>
            <a:ext cx="1554480" cy="914400"/>
          </a:xfrm>
          <a:prstGeom prst="roundRect">
            <a:avLst>
              <a:gd name="adj" fmla="val 8000"/>
            </a:avLst>
          </a:prstGeom>
          <a:solidFill>
            <a:schemeClr val="bg2"/>
          </a:solidFill>
          <a:ln w="12700">
            <a:solidFill>
              <a:schemeClr val="bg2"/>
            </a:solidFill>
            <a:prstDash val="solid"/>
          </a:ln>
        </p:spPr>
      </p:sp>
      <p:sp>
        <p:nvSpPr>
          <p:cNvPr id="23" name="Step number circle 5"/>
          <p:cNvSpPr/>
          <p:nvPr/>
        </p:nvSpPr>
        <p:spPr>
          <a:xfrm>
            <a:off x="2395728" y="2423160"/>
            <a:ext cx="274320" cy="274320"/>
          </a:xfrm>
          <a:prstGeom prst="ellipse">
            <a:avLst/>
          </a:prstGeom>
          <a:solidFill>
            <a:schemeClr val="accent2"/>
          </a:solidFill>
          <a:ln w="12700">
            <a:solidFill>
              <a:schemeClr val="accent2"/>
            </a:solidFill>
            <a:prstDash val="solid"/>
          </a:ln>
        </p:spPr>
      </p:sp>
      <p:sp>
        <p:nvSpPr>
          <p:cNvPr id="24" name="Step number 5"/>
          <p:cNvSpPr txBox="1"/>
          <p:nvPr/>
        </p:nvSpPr>
        <p:spPr>
          <a:xfrm>
            <a:off x="2395728" y="242316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5" name="Step 5"/>
          <p:cNvSpPr txBox="1"/>
          <p:nvPr/>
        </p:nvSpPr>
        <p:spPr>
          <a:xfrm>
            <a:off x="2395728" y="2734056"/>
            <a:ext cx="1353312" cy="457200"/>
          </a:xfrm>
          <a:prstGeom prst="rect">
            <a:avLst/>
          </a:prstGeom>
          <a:noFill/>
          <a:ln/>
        </p:spPr>
        <p:txBody>
          <a:bodyPr wrap="square" lIns="0" tIns="0" rIns="0" bIns="0" rtlCol="0" anchor="t"/>
          <a:lstStyle/>
          <a:p>
            <a:pPr indent="0" marL="0">
              <a:buNone/>
            </a:pPr>
            <a:r>
              <a:rPr lang="en-US" sz="1300" b="1" dirty="0">
                <a:solidFill>
                  <a:schemeClr val="tx2"/>
                </a:solidFill>
              </a:rPr>
              <a:t>EDA</a:t>
            </a:r>
            <a:endParaRPr lang="en-US" sz="1300" dirty="0"/>
          </a:p>
        </p:txBody>
      </p:sp>
      <p:sp>
        <p:nvSpPr>
          <p:cNvPr id="26" name="Arrow 5"/>
          <p:cNvSpPr/>
          <p:nvPr/>
        </p:nvSpPr>
        <p:spPr>
          <a:xfrm>
            <a:off x="3895344" y="2670048"/>
            <a:ext cx="146304" cy="237744"/>
          </a:xfrm>
          <a:prstGeom prst="chevron">
            <a:avLst/>
          </a:prstGeom>
          <a:solidFill>
            <a:schemeClr val="accent3"/>
          </a:solidFill>
          <a:ln w="12700">
            <a:solidFill>
              <a:schemeClr val="accent3"/>
            </a:solidFill>
            <a:prstDash val="solid"/>
          </a:ln>
        </p:spPr>
      </p:sp>
      <p:sp>
        <p:nvSpPr>
          <p:cNvPr id="27" name="Step card 6"/>
          <p:cNvSpPr/>
          <p:nvPr/>
        </p:nvSpPr>
        <p:spPr>
          <a:xfrm>
            <a:off x="4114800" y="2331720"/>
            <a:ext cx="1554480" cy="914400"/>
          </a:xfrm>
          <a:prstGeom prst="roundRect">
            <a:avLst>
              <a:gd name="adj" fmla="val 8000"/>
            </a:avLst>
          </a:prstGeom>
          <a:solidFill>
            <a:schemeClr val="bg2"/>
          </a:solidFill>
          <a:ln w="12700">
            <a:solidFill>
              <a:schemeClr val="bg2"/>
            </a:solidFill>
            <a:prstDash val="solid"/>
          </a:ln>
        </p:spPr>
      </p:sp>
      <p:sp>
        <p:nvSpPr>
          <p:cNvPr id="28" name="Step number circle 6"/>
          <p:cNvSpPr/>
          <p:nvPr/>
        </p:nvSpPr>
        <p:spPr>
          <a:xfrm>
            <a:off x="4224528" y="2423160"/>
            <a:ext cx="274320" cy="274320"/>
          </a:xfrm>
          <a:prstGeom prst="ellipse">
            <a:avLst/>
          </a:prstGeom>
          <a:solidFill>
            <a:schemeClr val="accent2"/>
          </a:solidFill>
          <a:ln w="12700">
            <a:solidFill>
              <a:schemeClr val="accent2"/>
            </a:solidFill>
            <a:prstDash val="solid"/>
          </a:ln>
        </p:spPr>
      </p:sp>
      <p:sp>
        <p:nvSpPr>
          <p:cNvPr id="29" name="Step number 6"/>
          <p:cNvSpPr txBox="1"/>
          <p:nvPr/>
        </p:nvSpPr>
        <p:spPr>
          <a:xfrm>
            <a:off x="4224528" y="242316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0" name="Step 6"/>
          <p:cNvSpPr txBox="1"/>
          <p:nvPr/>
        </p:nvSpPr>
        <p:spPr>
          <a:xfrm>
            <a:off x="4224528" y="2734056"/>
            <a:ext cx="1353312" cy="457200"/>
          </a:xfrm>
          <a:prstGeom prst="rect">
            <a:avLst/>
          </a:prstGeom>
          <a:noFill/>
          <a:ln/>
        </p:spPr>
        <p:txBody>
          <a:bodyPr wrap="square" lIns="0" tIns="0" rIns="0" bIns="0" rtlCol="0" anchor="t"/>
          <a:lstStyle/>
          <a:p>
            <a:pPr indent="0" marL="0">
              <a:buNone/>
            </a:pPr>
            <a:r>
              <a:rPr lang="en-US" sz="1300" b="1" dirty="0">
                <a:solidFill>
                  <a:schemeClr val="tx2"/>
                </a:solidFill>
              </a:rPr>
              <a:t>Feature Engineering</a:t>
            </a:r>
            <a:endParaRPr lang="en-US" sz="1300" dirty="0"/>
          </a:p>
        </p:txBody>
      </p:sp>
      <p:sp>
        <p:nvSpPr>
          <p:cNvPr id="31" name="Step card 7"/>
          <p:cNvSpPr/>
          <p:nvPr/>
        </p:nvSpPr>
        <p:spPr>
          <a:xfrm>
            <a:off x="457200" y="3520440"/>
            <a:ext cx="1554480" cy="914400"/>
          </a:xfrm>
          <a:prstGeom prst="roundRect">
            <a:avLst>
              <a:gd name="adj" fmla="val 8000"/>
            </a:avLst>
          </a:prstGeom>
          <a:solidFill>
            <a:schemeClr val="bg2"/>
          </a:solidFill>
          <a:ln w="12700">
            <a:solidFill>
              <a:schemeClr val="bg2"/>
            </a:solidFill>
            <a:prstDash val="solid"/>
          </a:ln>
        </p:spPr>
      </p:sp>
      <p:sp>
        <p:nvSpPr>
          <p:cNvPr id="32" name="Step number circle 7"/>
          <p:cNvSpPr/>
          <p:nvPr/>
        </p:nvSpPr>
        <p:spPr>
          <a:xfrm>
            <a:off x="566928" y="3611880"/>
            <a:ext cx="274320" cy="274320"/>
          </a:xfrm>
          <a:prstGeom prst="ellipse">
            <a:avLst/>
          </a:prstGeom>
          <a:solidFill>
            <a:schemeClr val="accent2"/>
          </a:solidFill>
          <a:ln w="12700">
            <a:solidFill>
              <a:schemeClr val="accent2"/>
            </a:solidFill>
            <a:prstDash val="solid"/>
          </a:ln>
        </p:spPr>
      </p:sp>
      <p:sp>
        <p:nvSpPr>
          <p:cNvPr id="33" name="Step number 7"/>
          <p:cNvSpPr txBox="1"/>
          <p:nvPr/>
        </p:nvSpPr>
        <p:spPr>
          <a:xfrm>
            <a:off x="566928" y="361188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34" name="Step 7"/>
          <p:cNvSpPr txBox="1"/>
          <p:nvPr/>
        </p:nvSpPr>
        <p:spPr>
          <a:xfrm>
            <a:off x="566928" y="3922776"/>
            <a:ext cx="1353312" cy="457200"/>
          </a:xfrm>
          <a:prstGeom prst="rect">
            <a:avLst/>
          </a:prstGeom>
          <a:noFill/>
          <a:ln/>
        </p:spPr>
        <p:txBody>
          <a:bodyPr wrap="square" lIns="0" tIns="0" rIns="0" bIns="0" rtlCol="0" anchor="t"/>
          <a:lstStyle/>
          <a:p>
            <a:pPr indent="0" marL="0">
              <a:buNone/>
            </a:pPr>
            <a:r>
              <a:rPr lang="en-US" sz="1300" b="1" dirty="0">
                <a:solidFill>
                  <a:schemeClr val="tx2"/>
                </a:solidFill>
              </a:rPr>
              <a:t>Feature Selection</a:t>
            </a:r>
            <a:endParaRPr lang="en-US" sz="1300" dirty="0"/>
          </a:p>
        </p:txBody>
      </p:sp>
      <p:sp>
        <p:nvSpPr>
          <p:cNvPr id="35" name="Arrow 7"/>
          <p:cNvSpPr/>
          <p:nvPr/>
        </p:nvSpPr>
        <p:spPr>
          <a:xfrm>
            <a:off x="2066544" y="3858768"/>
            <a:ext cx="146304" cy="237744"/>
          </a:xfrm>
          <a:prstGeom prst="chevron">
            <a:avLst/>
          </a:prstGeom>
          <a:solidFill>
            <a:schemeClr val="accent3"/>
          </a:solidFill>
          <a:ln w="12700">
            <a:solidFill>
              <a:schemeClr val="accent3"/>
            </a:solidFill>
            <a:prstDash val="solid"/>
          </a:ln>
        </p:spPr>
      </p:sp>
      <p:sp>
        <p:nvSpPr>
          <p:cNvPr id="36" name="Step card 8"/>
          <p:cNvSpPr/>
          <p:nvPr/>
        </p:nvSpPr>
        <p:spPr>
          <a:xfrm>
            <a:off x="2286000" y="3520440"/>
            <a:ext cx="1554480" cy="914400"/>
          </a:xfrm>
          <a:prstGeom prst="roundRect">
            <a:avLst>
              <a:gd name="adj" fmla="val 8000"/>
            </a:avLst>
          </a:prstGeom>
          <a:solidFill>
            <a:schemeClr val="bg2"/>
          </a:solidFill>
          <a:ln w="12700">
            <a:solidFill>
              <a:schemeClr val="bg2"/>
            </a:solidFill>
            <a:prstDash val="solid"/>
          </a:ln>
        </p:spPr>
      </p:sp>
      <p:sp>
        <p:nvSpPr>
          <p:cNvPr id="37" name="Step number circle 8"/>
          <p:cNvSpPr/>
          <p:nvPr/>
        </p:nvSpPr>
        <p:spPr>
          <a:xfrm>
            <a:off x="2395728" y="3611880"/>
            <a:ext cx="274320" cy="274320"/>
          </a:xfrm>
          <a:prstGeom prst="ellipse">
            <a:avLst/>
          </a:prstGeom>
          <a:solidFill>
            <a:schemeClr val="accent2"/>
          </a:solidFill>
          <a:ln w="12700">
            <a:solidFill>
              <a:schemeClr val="accent2"/>
            </a:solidFill>
            <a:prstDash val="solid"/>
          </a:ln>
        </p:spPr>
      </p:sp>
      <p:sp>
        <p:nvSpPr>
          <p:cNvPr id="38" name="Step number 8"/>
          <p:cNvSpPr txBox="1"/>
          <p:nvPr/>
        </p:nvSpPr>
        <p:spPr>
          <a:xfrm>
            <a:off x="2395728" y="361188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39" name="Step 8"/>
          <p:cNvSpPr txBox="1"/>
          <p:nvPr/>
        </p:nvSpPr>
        <p:spPr>
          <a:xfrm>
            <a:off x="2395728" y="3922776"/>
            <a:ext cx="1353312" cy="457200"/>
          </a:xfrm>
          <a:prstGeom prst="rect">
            <a:avLst/>
          </a:prstGeom>
          <a:noFill/>
          <a:ln/>
        </p:spPr>
        <p:txBody>
          <a:bodyPr wrap="square" lIns="0" tIns="0" rIns="0" bIns="0" rtlCol="0" anchor="t"/>
          <a:lstStyle/>
          <a:p>
            <a:pPr indent="0" marL="0">
              <a:buNone/>
            </a:pPr>
            <a:r>
              <a:rPr lang="en-US" sz="1300" b="1" dirty="0">
                <a:solidFill>
                  <a:schemeClr val="tx2"/>
                </a:solidFill>
              </a:rPr>
              <a:t>Excel Visualization</a:t>
            </a:r>
            <a:endParaRPr lang="en-US" sz="1300" dirty="0"/>
          </a:p>
        </p:txBody>
      </p:sp>
      <p:sp>
        <p:nvSpPr>
          <p:cNvPr id="40" name="Arrow 8"/>
          <p:cNvSpPr/>
          <p:nvPr/>
        </p:nvSpPr>
        <p:spPr>
          <a:xfrm>
            <a:off x="3895344" y="3858768"/>
            <a:ext cx="146304" cy="237744"/>
          </a:xfrm>
          <a:prstGeom prst="chevron">
            <a:avLst/>
          </a:prstGeom>
          <a:solidFill>
            <a:schemeClr val="accent3"/>
          </a:solidFill>
          <a:ln w="12700">
            <a:solidFill>
              <a:schemeClr val="accent3"/>
            </a:solidFill>
            <a:prstDash val="solid"/>
          </a:ln>
        </p:spPr>
      </p:sp>
      <p:sp>
        <p:nvSpPr>
          <p:cNvPr id="41" name="Step card 9"/>
          <p:cNvSpPr/>
          <p:nvPr/>
        </p:nvSpPr>
        <p:spPr>
          <a:xfrm>
            <a:off x="4114800" y="3520440"/>
            <a:ext cx="1554480" cy="914400"/>
          </a:xfrm>
          <a:prstGeom prst="roundRect">
            <a:avLst>
              <a:gd name="adj" fmla="val 8000"/>
            </a:avLst>
          </a:prstGeom>
          <a:solidFill>
            <a:schemeClr val="accent1"/>
          </a:solidFill>
          <a:ln w="12700">
            <a:solidFill>
              <a:schemeClr val="accent1"/>
            </a:solidFill>
            <a:prstDash val="solid"/>
          </a:ln>
        </p:spPr>
      </p:sp>
      <p:sp>
        <p:nvSpPr>
          <p:cNvPr id="42" name="Step number circle 9"/>
          <p:cNvSpPr/>
          <p:nvPr/>
        </p:nvSpPr>
        <p:spPr>
          <a:xfrm>
            <a:off x="4224528" y="3611880"/>
            <a:ext cx="274320" cy="274320"/>
          </a:xfrm>
          <a:prstGeom prst="ellipse">
            <a:avLst/>
          </a:prstGeom>
          <a:solidFill>
            <a:schemeClr val="accent2"/>
          </a:solidFill>
          <a:ln w="12700">
            <a:solidFill>
              <a:schemeClr val="accent2"/>
            </a:solidFill>
            <a:prstDash val="solid"/>
          </a:ln>
        </p:spPr>
      </p:sp>
      <p:sp>
        <p:nvSpPr>
          <p:cNvPr id="43" name="Step number 9"/>
          <p:cNvSpPr txBox="1"/>
          <p:nvPr/>
        </p:nvSpPr>
        <p:spPr>
          <a:xfrm>
            <a:off x="4224528" y="361188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9</a:t>
            </a:r>
            <a:endParaRPr lang="en-US" sz="1200" dirty="0"/>
          </a:p>
        </p:txBody>
      </p:sp>
      <p:sp>
        <p:nvSpPr>
          <p:cNvPr id="44" name="Step 9"/>
          <p:cNvSpPr txBox="1"/>
          <p:nvPr/>
        </p:nvSpPr>
        <p:spPr>
          <a:xfrm>
            <a:off x="4224528" y="3922776"/>
            <a:ext cx="1353312" cy="457200"/>
          </a:xfrm>
          <a:prstGeom prst="rect">
            <a:avLst/>
          </a:prstGeom>
          <a:noFill/>
          <a:ln/>
        </p:spPr>
        <p:txBody>
          <a:bodyPr wrap="square" lIns="0" tIns="0" rIns="0" bIns="0" rtlCol="0" anchor="t"/>
          <a:lstStyle/>
          <a:p>
            <a:pPr indent="0" marL="0">
              <a:buNone/>
            </a:pPr>
            <a:r>
              <a:rPr lang="en-US" sz="1300" b="1" dirty="0">
                <a:solidFill>
                  <a:schemeClr val="bg1"/>
                </a:solidFill>
              </a:rPr>
              <a:t>Insights and Recommendations</a:t>
            </a:r>
            <a:endParaRPr lang="en-US" sz="1300" dirty="0"/>
          </a:p>
        </p:txBody>
      </p:sp>
      <p:sp>
        <p:nvSpPr>
          <p:cNvPr id="45" name="Preprocessing card"/>
          <p:cNvSpPr/>
          <p:nvPr/>
        </p:nvSpPr>
        <p:spPr>
          <a:xfrm>
            <a:off x="5989320" y="1097280"/>
            <a:ext cx="2697480" cy="3474720"/>
          </a:xfrm>
          <a:prstGeom prst="roundRect">
            <a:avLst>
              <a:gd name="adj" fmla="val 2712"/>
            </a:avLst>
          </a:prstGeom>
          <a:solidFill>
            <a:schemeClr val="bg2"/>
          </a:solidFill>
          <a:ln w="12700">
            <a:solidFill>
              <a:schemeClr val="bg2"/>
            </a:solidFill>
            <a:prstDash val="solid"/>
          </a:ln>
        </p:spPr>
      </p:sp>
      <p:sp>
        <p:nvSpPr>
          <p:cNvPr id="46" name="Preprocessing heading"/>
          <p:cNvSpPr txBox="1"/>
          <p:nvPr/>
        </p:nvSpPr>
        <p:spPr>
          <a:xfrm>
            <a:off x="6199632" y="1261872"/>
            <a:ext cx="2331720" cy="320040"/>
          </a:xfrm>
          <a:prstGeom prst="rect">
            <a:avLst/>
          </a:prstGeom>
          <a:noFill/>
          <a:ln/>
        </p:spPr>
        <p:txBody>
          <a:bodyPr wrap="square" lIns="0" tIns="0" rIns="0" bIns="0" rtlCol="0" anchor="ctr"/>
          <a:lstStyle/>
          <a:p>
            <a:pPr indent="0" marL="0">
              <a:buNone/>
            </a:pPr>
            <a:r>
              <a:rPr lang="en-US" sz="1600" b="1" dirty="0">
                <a:solidFill>
                  <a:schemeClr val="accent2"/>
                </a:solidFill>
              </a:rPr>
              <a:t>Preprocessing activities</a:t>
            </a:r>
            <a:endParaRPr lang="en-US" sz="1600" dirty="0"/>
          </a:p>
        </p:txBody>
      </p:sp>
      <p:sp>
        <p:nvSpPr>
          <p:cNvPr id="47" name="Preprocessing list"/>
          <p:cNvSpPr txBox="1"/>
          <p:nvPr/>
        </p:nvSpPr>
        <p:spPr>
          <a:xfrm>
            <a:off x="6199632" y="1664208"/>
            <a:ext cx="2331720" cy="28346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Handling missing values</a:t>
            </a:r>
            <a:endParaRPr lang="en-US" sz="1300" dirty="0"/>
          </a:p>
          <a:p>
            <a:pPr marL="342900" indent="-342900">
              <a:spcAft>
                <a:spcPts val="500"/>
              </a:spcAft>
              <a:buSzPct val="100000"/>
              <a:buChar char="•"/>
            </a:pPr>
            <a:r>
              <a:rPr lang="en-US" sz="1300" dirty="0">
                <a:solidFill>
                  <a:schemeClr val="tx1"/>
                </a:solidFill>
              </a:rPr>
              <a:t>Checking duplicate records</a:t>
            </a:r>
            <a:endParaRPr lang="en-US" sz="1300" dirty="0"/>
          </a:p>
          <a:p>
            <a:pPr marL="342900" indent="-342900">
              <a:spcAft>
                <a:spcPts val="500"/>
              </a:spcAft>
              <a:buSzPct val="100000"/>
              <a:buChar char="•"/>
            </a:pPr>
            <a:r>
              <a:rPr lang="en-US" sz="1300" dirty="0">
                <a:solidFill>
                  <a:schemeClr val="tx1"/>
                </a:solidFill>
              </a:rPr>
              <a:t>Standardizing facility names</a:t>
            </a:r>
            <a:endParaRPr lang="en-US" sz="1300" dirty="0"/>
          </a:p>
          <a:p>
            <a:pPr marL="342900" indent="-342900">
              <a:spcAft>
                <a:spcPts val="500"/>
              </a:spcAft>
              <a:buSzPct val="100000"/>
              <a:buChar char="•"/>
            </a:pPr>
            <a:r>
              <a:rPr lang="en-US" sz="1300" dirty="0">
                <a:solidFill>
                  <a:schemeClr val="tx1"/>
                </a:solidFill>
              </a:rPr>
              <a:t>Flagging occupancy above capacity</a:t>
            </a:r>
            <a:endParaRPr lang="en-US" sz="1300" dirty="0"/>
          </a:p>
          <a:p>
            <a:pPr marL="342900" indent="-342900">
              <a:spcAft>
                <a:spcPts val="500"/>
              </a:spcAft>
              <a:buSzPct val="100000"/>
              <a:buChar char="•"/>
            </a:pPr>
            <a:r>
              <a:rPr lang="en-US" sz="1300" dirty="0">
                <a:solidFill>
                  <a:schemeClr val="tx1"/>
                </a:solidFill>
              </a:rPr>
              <a:t>Handling incomplete maintenance information</a:t>
            </a:r>
            <a:endParaRPr lang="en-US" sz="1300" dirty="0"/>
          </a:p>
          <a:p>
            <a:pPr marL="342900" indent="-342900">
              <a:spcAft>
                <a:spcPts val="500"/>
              </a:spcAft>
              <a:buSzPct val="100000"/>
              <a:buChar char="•"/>
            </a:pPr>
            <a:r>
              <a:rPr lang="en-US" sz="1300" dirty="0">
                <a:solidFill>
                  <a:schemeClr val="tx1"/>
                </a:solidFill>
              </a:rPr>
              <a:t>Matching occupancy dates with calendar records</a:t>
            </a:r>
            <a:endParaRPr lang="en-US" sz="1300" dirty="0"/>
          </a:p>
        </p:txBody>
      </p:sp>
      <p:sp>
        <p:nvSpPr>
          <p:cNvPr id="25" name="Slide Number Placeholder 0"/>
          <p:cNvSpPr>
            <a:spLocks noGrp="1"/>
          </p:cNvSpPr>
          <p:nvPr>
            <p:ph type="sldNum" sz="quarter" idx="4294967295"/>
          </p:nvPr>
        </p:nvSpPr>
        <p:spPr>
          <a:xfrm>
            <a:off x="8046720" y="4828032"/>
            <a:ext cx="6400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Data Preprocessing and Feature Engineering</a:t>
            </a:r>
            <a:endParaRPr lang="en-US" sz="2800" dirty="0"/>
          </a:p>
        </p:txBody>
      </p:sp>
      <p:sp>
        <p:nvSpPr>
          <p:cNvPr id="3" name="Feature chip 1"/>
          <p:cNvSpPr/>
          <p:nvPr/>
        </p:nvSpPr>
        <p:spPr>
          <a:xfrm>
            <a:off x="457200" y="1097280"/>
            <a:ext cx="3017520" cy="365760"/>
          </a:xfrm>
          <a:prstGeom prst="roundRect">
            <a:avLst>
              <a:gd name="adj" fmla="val 20000"/>
            </a:avLst>
          </a:prstGeom>
          <a:solidFill>
            <a:schemeClr val="bg2"/>
          </a:solidFill>
          <a:ln w="12700">
            <a:solidFill>
              <a:schemeClr val="bg2"/>
            </a:solidFill>
            <a:prstDash val="solid"/>
          </a:ln>
        </p:spPr>
      </p:sp>
      <p:sp>
        <p:nvSpPr>
          <p:cNvPr id="4" name="Check 1 circle"/>
          <p:cNvSpPr/>
          <p:nvPr/>
        </p:nvSpPr>
        <p:spPr>
          <a:xfrm>
            <a:off x="530352" y="1161288"/>
            <a:ext cx="237744" cy="237744"/>
          </a:xfrm>
          <a:prstGeom prst="ellipse">
            <a:avLst/>
          </a:prstGeom>
          <a:solidFill>
            <a:schemeClr val="accent2"/>
          </a:solidFill>
          <a:ln w="12700">
            <a:solidFill>
              <a:schemeClr val="accent2"/>
            </a:solidFill>
            <a:prstDash val="solid"/>
          </a:ln>
        </p:spPr>
      </p:sp>
      <p:pic>
        <p:nvPicPr>
          <p:cNvPr id="5" name="Image 0" descr="Check 1">    </p:cNvPr>
          <p:cNvPicPr>
            <a:picLocks noChangeAspect="1"/>
          </p:cNvPicPr>
          <p:nvPr/>
        </p:nvPicPr>
        <p:blipFill>
          <a:blip r:embed="rId1"/>
          <a:stretch>
            <a:fillRect/>
          </a:stretch>
        </p:blipFill>
        <p:spPr>
          <a:xfrm>
            <a:off x="587411" y="1218347"/>
            <a:ext cx="123627" cy="123627"/>
          </a:xfrm>
          <a:prstGeom prst="rect">
            <a:avLst/>
          </a:prstGeom>
        </p:spPr>
      </p:pic>
      <p:sp>
        <p:nvSpPr>
          <p:cNvPr id="6" name="Feature 1"/>
          <p:cNvSpPr txBox="1"/>
          <p:nvPr/>
        </p:nvSpPr>
        <p:spPr>
          <a:xfrm>
            <a:off x="896112" y="1097280"/>
            <a:ext cx="2514600" cy="365760"/>
          </a:xfrm>
          <a:prstGeom prst="rect">
            <a:avLst/>
          </a:prstGeom>
          <a:noFill/>
          <a:ln/>
        </p:spPr>
        <p:txBody>
          <a:bodyPr wrap="square" lIns="0" tIns="0" rIns="0" bIns="0" rtlCol="0" anchor="ctr"/>
          <a:lstStyle/>
          <a:p>
            <a:pPr indent="0" marL="0">
              <a:buNone/>
            </a:pPr>
            <a:r>
              <a:rPr lang="en-US" sz="1300" b="1" dirty="0">
                <a:solidFill>
                  <a:schemeClr val="tx2"/>
                </a:solidFill>
              </a:rPr>
              <a:t>Booking duration</a:t>
            </a:r>
            <a:endParaRPr lang="en-US" sz="1300" dirty="0"/>
          </a:p>
        </p:txBody>
      </p:sp>
      <p:sp>
        <p:nvSpPr>
          <p:cNvPr id="7" name="Feature chip 2"/>
          <p:cNvSpPr/>
          <p:nvPr/>
        </p:nvSpPr>
        <p:spPr>
          <a:xfrm>
            <a:off x="457200" y="1536192"/>
            <a:ext cx="3017520" cy="365760"/>
          </a:xfrm>
          <a:prstGeom prst="roundRect">
            <a:avLst>
              <a:gd name="adj" fmla="val 20000"/>
            </a:avLst>
          </a:prstGeom>
          <a:solidFill>
            <a:schemeClr val="bg2"/>
          </a:solidFill>
          <a:ln w="12700">
            <a:solidFill>
              <a:schemeClr val="bg2"/>
            </a:solidFill>
            <a:prstDash val="solid"/>
          </a:ln>
        </p:spPr>
      </p:sp>
      <p:sp>
        <p:nvSpPr>
          <p:cNvPr id="8" name="Check 2 circle"/>
          <p:cNvSpPr/>
          <p:nvPr/>
        </p:nvSpPr>
        <p:spPr>
          <a:xfrm>
            <a:off x="530352" y="1600200"/>
            <a:ext cx="237744" cy="237744"/>
          </a:xfrm>
          <a:prstGeom prst="ellipse">
            <a:avLst/>
          </a:prstGeom>
          <a:solidFill>
            <a:schemeClr val="accent2"/>
          </a:solidFill>
          <a:ln w="12700">
            <a:solidFill>
              <a:schemeClr val="accent2"/>
            </a:solidFill>
            <a:prstDash val="solid"/>
          </a:ln>
        </p:spPr>
      </p:sp>
      <p:pic>
        <p:nvPicPr>
          <p:cNvPr id="9" name="Image 1" descr="Check 2">    </p:cNvPr>
          <p:cNvPicPr>
            <a:picLocks noChangeAspect="1"/>
          </p:cNvPicPr>
          <p:nvPr/>
        </p:nvPicPr>
        <p:blipFill>
          <a:blip r:embed="rId2"/>
          <a:stretch>
            <a:fillRect/>
          </a:stretch>
        </p:blipFill>
        <p:spPr>
          <a:xfrm>
            <a:off x="587411" y="1657259"/>
            <a:ext cx="123627" cy="123627"/>
          </a:xfrm>
          <a:prstGeom prst="rect">
            <a:avLst/>
          </a:prstGeom>
        </p:spPr>
      </p:pic>
      <p:sp>
        <p:nvSpPr>
          <p:cNvPr id="10" name="Feature 2"/>
          <p:cNvSpPr txBox="1"/>
          <p:nvPr/>
        </p:nvSpPr>
        <p:spPr>
          <a:xfrm>
            <a:off x="896112" y="1536192"/>
            <a:ext cx="2514600" cy="365760"/>
          </a:xfrm>
          <a:prstGeom prst="rect">
            <a:avLst/>
          </a:prstGeom>
          <a:noFill/>
          <a:ln/>
        </p:spPr>
        <p:txBody>
          <a:bodyPr wrap="square" lIns="0" tIns="0" rIns="0" bIns="0" rtlCol="0" anchor="ctr"/>
          <a:lstStyle/>
          <a:p>
            <a:pPr indent="0" marL="0">
              <a:buNone/>
            </a:pPr>
            <a:r>
              <a:rPr lang="en-US" sz="1300" b="1" dirty="0">
                <a:solidFill>
                  <a:schemeClr val="tx2"/>
                </a:solidFill>
              </a:rPr>
              <a:t>Hour of day</a:t>
            </a:r>
            <a:endParaRPr lang="en-US" sz="1300" dirty="0"/>
          </a:p>
        </p:txBody>
      </p:sp>
      <p:sp>
        <p:nvSpPr>
          <p:cNvPr id="11" name="Feature chip 3"/>
          <p:cNvSpPr/>
          <p:nvPr/>
        </p:nvSpPr>
        <p:spPr>
          <a:xfrm>
            <a:off x="457200" y="1975104"/>
            <a:ext cx="3017520" cy="365760"/>
          </a:xfrm>
          <a:prstGeom prst="roundRect">
            <a:avLst>
              <a:gd name="adj" fmla="val 20000"/>
            </a:avLst>
          </a:prstGeom>
          <a:solidFill>
            <a:schemeClr val="bg2"/>
          </a:solidFill>
          <a:ln w="12700">
            <a:solidFill>
              <a:schemeClr val="bg2"/>
            </a:solidFill>
            <a:prstDash val="solid"/>
          </a:ln>
        </p:spPr>
      </p:sp>
      <p:sp>
        <p:nvSpPr>
          <p:cNvPr id="12" name="Check 3 circle"/>
          <p:cNvSpPr/>
          <p:nvPr/>
        </p:nvSpPr>
        <p:spPr>
          <a:xfrm>
            <a:off x="530352" y="2039112"/>
            <a:ext cx="237744" cy="237744"/>
          </a:xfrm>
          <a:prstGeom prst="ellipse">
            <a:avLst/>
          </a:prstGeom>
          <a:solidFill>
            <a:schemeClr val="accent2"/>
          </a:solidFill>
          <a:ln w="12700">
            <a:solidFill>
              <a:schemeClr val="accent2"/>
            </a:solidFill>
            <a:prstDash val="solid"/>
          </a:ln>
        </p:spPr>
      </p:sp>
      <p:pic>
        <p:nvPicPr>
          <p:cNvPr id="13" name="Image 2" descr="Check 3">    </p:cNvPr>
          <p:cNvPicPr>
            <a:picLocks noChangeAspect="1"/>
          </p:cNvPicPr>
          <p:nvPr/>
        </p:nvPicPr>
        <p:blipFill>
          <a:blip r:embed="rId3"/>
          <a:stretch>
            <a:fillRect/>
          </a:stretch>
        </p:blipFill>
        <p:spPr>
          <a:xfrm>
            <a:off x="587411" y="2096171"/>
            <a:ext cx="123627" cy="123627"/>
          </a:xfrm>
          <a:prstGeom prst="rect">
            <a:avLst/>
          </a:prstGeom>
        </p:spPr>
      </p:pic>
      <p:sp>
        <p:nvSpPr>
          <p:cNvPr id="14" name="Feature 3"/>
          <p:cNvSpPr txBox="1"/>
          <p:nvPr/>
        </p:nvSpPr>
        <p:spPr>
          <a:xfrm>
            <a:off x="896112" y="1975104"/>
            <a:ext cx="2514600" cy="365760"/>
          </a:xfrm>
          <a:prstGeom prst="rect">
            <a:avLst/>
          </a:prstGeom>
          <a:noFill/>
          <a:ln/>
        </p:spPr>
        <p:txBody>
          <a:bodyPr wrap="square" lIns="0" tIns="0" rIns="0" bIns="0" rtlCol="0" anchor="ctr"/>
          <a:lstStyle/>
          <a:p>
            <a:pPr indent="0" marL="0">
              <a:buNone/>
            </a:pPr>
            <a:r>
              <a:rPr lang="en-US" sz="1300" b="1" dirty="0">
                <a:solidFill>
                  <a:schemeClr val="tx2"/>
                </a:solidFill>
              </a:rPr>
              <a:t>Day of week</a:t>
            </a:r>
            <a:endParaRPr lang="en-US" sz="1300" dirty="0"/>
          </a:p>
        </p:txBody>
      </p:sp>
      <p:sp>
        <p:nvSpPr>
          <p:cNvPr id="15" name="Feature chip 4"/>
          <p:cNvSpPr/>
          <p:nvPr/>
        </p:nvSpPr>
        <p:spPr>
          <a:xfrm>
            <a:off x="457200" y="2414016"/>
            <a:ext cx="3017520" cy="365760"/>
          </a:xfrm>
          <a:prstGeom prst="roundRect">
            <a:avLst>
              <a:gd name="adj" fmla="val 20000"/>
            </a:avLst>
          </a:prstGeom>
          <a:solidFill>
            <a:schemeClr val="bg2"/>
          </a:solidFill>
          <a:ln w="12700">
            <a:solidFill>
              <a:schemeClr val="bg2"/>
            </a:solidFill>
            <a:prstDash val="solid"/>
          </a:ln>
        </p:spPr>
      </p:sp>
      <p:sp>
        <p:nvSpPr>
          <p:cNvPr id="16" name="Check 4 circle"/>
          <p:cNvSpPr/>
          <p:nvPr/>
        </p:nvSpPr>
        <p:spPr>
          <a:xfrm>
            <a:off x="530352" y="2478024"/>
            <a:ext cx="237744" cy="237744"/>
          </a:xfrm>
          <a:prstGeom prst="ellipse">
            <a:avLst/>
          </a:prstGeom>
          <a:solidFill>
            <a:schemeClr val="accent2"/>
          </a:solidFill>
          <a:ln w="12700">
            <a:solidFill>
              <a:schemeClr val="accent2"/>
            </a:solidFill>
            <a:prstDash val="solid"/>
          </a:ln>
        </p:spPr>
      </p:sp>
      <p:pic>
        <p:nvPicPr>
          <p:cNvPr id="17" name="Image 3" descr="Check 4">    </p:cNvPr>
          <p:cNvPicPr>
            <a:picLocks noChangeAspect="1"/>
          </p:cNvPicPr>
          <p:nvPr/>
        </p:nvPicPr>
        <p:blipFill>
          <a:blip r:embed="rId4"/>
          <a:stretch>
            <a:fillRect/>
          </a:stretch>
        </p:blipFill>
        <p:spPr>
          <a:xfrm>
            <a:off x="587411" y="2535083"/>
            <a:ext cx="123627" cy="123627"/>
          </a:xfrm>
          <a:prstGeom prst="rect">
            <a:avLst/>
          </a:prstGeom>
        </p:spPr>
      </p:pic>
      <p:sp>
        <p:nvSpPr>
          <p:cNvPr id="18" name="Feature 4"/>
          <p:cNvSpPr txBox="1"/>
          <p:nvPr/>
        </p:nvSpPr>
        <p:spPr>
          <a:xfrm>
            <a:off x="896112" y="2414016"/>
            <a:ext cx="2514600" cy="365760"/>
          </a:xfrm>
          <a:prstGeom prst="rect">
            <a:avLst/>
          </a:prstGeom>
          <a:noFill/>
          <a:ln/>
        </p:spPr>
        <p:txBody>
          <a:bodyPr wrap="square" lIns="0" tIns="0" rIns="0" bIns="0" rtlCol="0" anchor="ctr"/>
          <a:lstStyle/>
          <a:p>
            <a:pPr indent="0" marL="0">
              <a:buNone/>
            </a:pPr>
            <a:r>
              <a:rPr lang="en-US" sz="1300" b="1" dirty="0">
                <a:solidFill>
                  <a:schemeClr val="tx2"/>
                </a:solidFill>
              </a:rPr>
              <a:t>Weekend indicator</a:t>
            </a:r>
            <a:endParaRPr lang="en-US" sz="1300" dirty="0"/>
          </a:p>
        </p:txBody>
      </p:sp>
      <p:sp>
        <p:nvSpPr>
          <p:cNvPr id="19" name="Feature chip 5"/>
          <p:cNvSpPr/>
          <p:nvPr/>
        </p:nvSpPr>
        <p:spPr>
          <a:xfrm>
            <a:off x="457200" y="2852928"/>
            <a:ext cx="3017520" cy="365760"/>
          </a:xfrm>
          <a:prstGeom prst="roundRect">
            <a:avLst>
              <a:gd name="adj" fmla="val 20000"/>
            </a:avLst>
          </a:prstGeom>
          <a:solidFill>
            <a:schemeClr val="bg2"/>
          </a:solidFill>
          <a:ln w="12700">
            <a:solidFill>
              <a:schemeClr val="bg2"/>
            </a:solidFill>
            <a:prstDash val="solid"/>
          </a:ln>
        </p:spPr>
      </p:sp>
      <p:sp>
        <p:nvSpPr>
          <p:cNvPr id="20" name="Check 5 circle"/>
          <p:cNvSpPr/>
          <p:nvPr/>
        </p:nvSpPr>
        <p:spPr>
          <a:xfrm>
            <a:off x="530352" y="2916936"/>
            <a:ext cx="237744" cy="237744"/>
          </a:xfrm>
          <a:prstGeom prst="ellipse">
            <a:avLst/>
          </a:prstGeom>
          <a:solidFill>
            <a:schemeClr val="accent2"/>
          </a:solidFill>
          <a:ln w="12700">
            <a:solidFill>
              <a:schemeClr val="accent2"/>
            </a:solidFill>
            <a:prstDash val="solid"/>
          </a:ln>
        </p:spPr>
      </p:sp>
      <p:pic>
        <p:nvPicPr>
          <p:cNvPr id="21" name="Image 4" descr="Check 5">    </p:cNvPr>
          <p:cNvPicPr>
            <a:picLocks noChangeAspect="1"/>
          </p:cNvPicPr>
          <p:nvPr/>
        </p:nvPicPr>
        <p:blipFill>
          <a:blip r:embed="rId5"/>
          <a:stretch>
            <a:fillRect/>
          </a:stretch>
        </p:blipFill>
        <p:spPr>
          <a:xfrm>
            <a:off x="587411" y="2973995"/>
            <a:ext cx="123627" cy="123627"/>
          </a:xfrm>
          <a:prstGeom prst="rect">
            <a:avLst/>
          </a:prstGeom>
        </p:spPr>
      </p:pic>
      <p:sp>
        <p:nvSpPr>
          <p:cNvPr id="22" name="Feature 5"/>
          <p:cNvSpPr txBox="1"/>
          <p:nvPr/>
        </p:nvSpPr>
        <p:spPr>
          <a:xfrm>
            <a:off x="896112" y="2852928"/>
            <a:ext cx="2514600" cy="365760"/>
          </a:xfrm>
          <a:prstGeom prst="rect">
            <a:avLst/>
          </a:prstGeom>
          <a:noFill/>
          <a:ln/>
        </p:spPr>
        <p:txBody>
          <a:bodyPr wrap="square" lIns="0" tIns="0" rIns="0" bIns="0" rtlCol="0" anchor="ctr"/>
          <a:lstStyle/>
          <a:p>
            <a:pPr indent="0" marL="0">
              <a:buNone/>
            </a:pPr>
            <a:r>
              <a:rPr lang="en-US" sz="1300" b="1" dirty="0">
                <a:solidFill>
                  <a:schemeClr val="tx2"/>
                </a:solidFill>
              </a:rPr>
              <a:t>Occupancy utilization %</a:t>
            </a:r>
            <a:endParaRPr lang="en-US" sz="1300" dirty="0"/>
          </a:p>
        </p:txBody>
      </p:sp>
      <p:sp>
        <p:nvSpPr>
          <p:cNvPr id="23" name="Feature chip 6"/>
          <p:cNvSpPr/>
          <p:nvPr/>
        </p:nvSpPr>
        <p:spPr>
          <a:xfrm>
            <a:off x="457200" y="3291840"/>
            <a:ext cx="3017520" cy="365760"/>
          </a:xfrm>
          <a:prstGeom prst="roundRect">
            <a:avLst>
              <a:gd name="adj" fmla="val 20000"/>
            </a:avLst>
          </a:prstGeom>
          <a:solidFill>
            <a:schemeClr val="bg2"/>
          </a:solidFill>
          <a:ln w="12700">
            <a:solidFill>
              <a:schemeClr val="bg2"/>
            </a:solidFill>
            <a:prstDash val="solid"/>
          </a:ln>
        </p:spPr>
      </p:sp>
      <p:sp>
        <p:nvSpPr>
          <p:cNvPr id="24" name="Check 6 circle"/>
          <p:cNvSpPr/>
          <p:nvPr/>
        </p:nvSpPr>
        <p:spPr>
          <a:xfrm>
            <a:off x="530352" y="3355848"/>
            <a:ext cx="237744" cy="237744"/>
          </a:xfrm>
          <a:prstGeom prst="ellipse">
            <a:avLst/>
          </a:prstGeom>
          <a:solidFill>
            <a:schemeClr val="accent2"/>
          </a:solidFill>
          <a:ln w="12700">
            <a:solidFill>
              <a:schemeClr val="accent2"/>
            </a:solidFill>
            <a:prstDash val="solid"/>
          </a:ln>
        </p:spPr>
      </p:sp>
      <p:pic>
        <p:nvPicPr>
          <p:cNvPr id="25" name="Image 5" descr="Check 6">    </p:cNvPr>
          <p:cNvPicPr>
            <a:picLocks noChangeAspect="1"/>
          </p:cNvPicPr>
          <p:nvPr/>
        </p:nvPicPr>
        <p:blipFill>
          <a:blip r:embed="rId6"/>
          <a:stretch>
            <a:fillRect/>
          </a:stretch>
        </p:blipFill>
        <p:spPr>
          <a:xfrm>
            <a:off x="587411" y="3412907"/>
            <a:ext cx="123627" cy="123627"/>
          </a:xfrm>
          <a:prstGeom prst="rect">
            <a:avLst/>
          </a:prstGeom>
        </p:spPr>
      </p:pic>
      <p:sp>
        <p:nvSpPr>
          <p:cNvPr id="26" name="Feature 6"/>
          <p:cNvSpPr txBox="1"/>
          <p:nvPr/>
        </p:nvSpPr>
        <p:spPr>
          <a:xfrm>
            <a:off x="896112" y="3291840"/>
            <a:ext cx="2514600" cy="365760"/>
          </a:xfrm>
          <a:prstGeom prst="rect">
            <a:avLst/>
          </a:prstGeom>
          <a:noFill/>
          <a:ln/>
        </p:spPr>
        <p:txBody>
          <a:bodyPr wrap="square" lIns="0" tIns="0" rIns="0" bIns="0" rtlCol="0" anchor="ctr"/>
          <a:lstStyle/>
          <a:p>
            <a:pPr indent="0" marL="0">
              <a:buNone/>
            </a:pPr>
            <a:r>
              <a:rPr lang="en-US" sz="1300" b="1" dirty="0">
                <a:solidFill>
                  <a:schemeClr val="tx2"/>
                </a:solidFill>
              </a:rPr>
              <a:t>Peak-hour indicator</a:t>
            </a:r>
            <a:endParaRPr lang="en-US" sz="1300" dirty="0"/>
          </a:p>
        </p:txBody>
      </p:sp>
      <p:sp>
        <p:nvSpPr>
          <p:cNvPr id="27" name="Feature chip 7"/>
          <p:cNvSpPr/>
          <p:nvPr/>
        </p:nvSpPr>
        <p:spPr>
          <a:xfrm>
            <a:off x="457200" y="3730752"/>
            <a:ext cx="3017520" cy="365760"/>
          </a:xfrm>
          <a:prstGeom prst="roundRect">
            <a:avLst>
              <a:gd name="adj" fmla="val 20000"/>
            </a:avLst>
          </a:prstGeom>
          <a:solidFill>
            <a:schemeClr val="bg2"/>
          </a:solidFill>
          <a:ln w="12700">
            <a:solidFill>
              <a:schemeClr val="bg2"/>
            </a:solidFill>
            <a:prstDash val="solid"/>
          </a:ln>
        </p:spPr>
      </p:sp>
      <p:sp>
        <p:nvSpPr>
          <p:cNvPr id="28" name="Check 7 circle"/>
          <p:cNvSpPr/>
          <p:nvPr/>
        </p:nvSpPr>
        <p:spPr>
          <a:xfrm>
            <a:off x="530352" y="3794760"/>
            <a:ext cx="237744" cy="237744"/>
          </a:xfrm>
          <a:prstGeom prst="ellipse">
            <a:avLst/>
          </a:prstGeom>
          <a:solidFill>
            <a:schemeClr val="accent2"/>
          </a:solidFill>
          <a:ln w="12700">
            <a:solidFill>
              <a:schemeClr val="accent2"/>
            </a:solidFill>
            <a:prstDash val="solid"/>
          </a:ln>
        </p:spPr>
      </p:sp>
      <p:pic>
        <p:nvPicPr>
          <p:cNvPr id="29" name="Image 6" descr="Check 7">    </p:cNvPr>
          <p:cNvPicPr>
            <a:picLocks noChangeAspect="1"/>
          </p:cNvPicPr>
          <p:nvPr/>
        </p:nvPicPr>
        <p:blipFill>
          <a:blip r:embed="rId7"/>
          <a:stretch>
            <a:fillRect/>
          </a:stretch>
        </p:blipFill>
        <p:spPr>
          <a:xfrm>
            <a:off x="587411" y="3851819"/>
            <a:ext cx="123627" cy="123627"/>
          </a:xfrm>
          <a:prstGeom prst="rect">
            <a:avLst/>
          </a:prstGeom>
        </p:spPr>
      </p:pic>
      <p:sp>
        <p:nvSpPr>
          <p:cNvPr id="30" name="Feature 7"/>
          <p:cNvSpPr txBox="1"/>
          <p:nvPr/>
        </p:nvSpPr>
        <p:spPr>
          <a:xfrm>
            <a:off x="896112" y="3730752"/>
            <a:ext cx="2514600" cy="365760"/>
          </a:xfrm>
          <a:prstGeom prst="rect">
            <a:avLst/>
          </a:prstGeom>
          <a:noFill/>
          <a:ln/>
        </p:spPr>
        <p:txBody>
          <a:bodyPr wrap="square" lIns="0" tIns="0" rIns="0" bIns="0" rtlCol="0" anchor="ctr"/>
          <a:lstStyle/>
          <a:p>
            <a:pPr indent="0" marL="0">
              <a:buNone/>
            </a:pPr>
            <a:r>
              <a:rPr lang="en-US" sz="1300" b="1" dirty="0">
                <a:solidFill>
                  <a:schemeClr val="tx2"/>
                </a:solidFill>
              </a:rPr>
              <a:t>Utilization category</a:t>
            </a:r>
            <a:endParaRPr lang="en-US" sz="1300" dirty="0"/>
          </a:p>
        </p:txBody>
      </p:sp>
      <p:sp>
        <p:nvSpPr>
          <p:cNvPr id="31" name="Feature chip 8"/>
          <p:cNvSpPr/>
          <p:nvPr/>
        </p:nvSpPr>
        <p:spPr>
          <a:xfrm>
            <a:off x="457200" y="4169664"/>
            <a:ext cx="3017520" cy="365760"/>
          </a:xfrm>
          <a:prstGeom prst="roundRect">
            <a:avLst>
              <a:gd name="adj" fmla="val 20000"/>
            </a:avLst>
          </a:prstGeom>
          <a:solidFill>
            <a:schemeClr val="bg2"/>
          </a:solidFill>
          <a:ln w="12700">
            <a:solidFill>
              <a:schemeClr val="bg2"/>
            </a:solidFill>
            <a:prstDash val="solid"/>
          </a:ln>
        </p:spPr>
      </p:sp>
      <p:sp>
        <p:nvSpPr>
          <p:cNvPr id="32" name="Check 8 circle"/>
          <p:cNvSpPr/>
          <p:nvPr/>
        </p:nvSpPr>
        <p:spPr>
          <a:xfrm>
            <a:off x="530352" y="4233672"/>
            <a:ext cx="237744" cy="237744"/>
          </a:xfrm>
          <a:prstGeom prst="ellipse">
            <a:avLst/>
          </a:prstGeom>
          <a:solidFill>
            <a:schemeClr val="accent2"/>
          </a:solidFill>
          <a:ln w="12700">
            <a:solidFill>
              <a:schemeClr val="accent2"/>
            </a:solidFill>
            <a:prstDash val="solid"/>
          </a:ln>
        </p:spPr>
      </p:sp>
      <p:pic>
        <p:nvPicPr>
          <p:cNvPr id="33" name="Image 7" descr="Check 8">    </p:cNvPr>
          <p:cNvPicPr>
            <a:picLocks noChangeAspect="1"/>
          </p:cNvPicPr>
          <p:nvPr/>
        </p:nvPicPr>
        <p:blipFill>
          <a:blip r:embed="rId8"/>
          <a:stretch>
            <a:fillRect/>
          </a:stretch>
        </p:blipFill>
        <p:spPr>
          <a:xfrm>
            <a:off x="587411" y="4290731"/>
            <a:ext cx="123627" cy="123627"/>
          </a:xfrm>
          <a:prstGeom prst="rect">
            <a:avLst/>
          </a:prstGeom>
        </p:spPr>
      </p:pic>
      <p:sp>
        <p:nvSpPr>
          <p:cNvPr id="34" name="Feature 8"/>
          <p:cNvSpPr txBox="1"/>
          <p:nvPr/>
        </p:nvSpPr>
        <p:spPr>
          <a:xfrm>
            <a:off x="896112" y="4169664"/>
            <a:ext cx="2514600" cy="365760"/>
          </a:xfrm>
          <a:prstGeom prst="rect">
            <a:avLst/>
          </a:prstGeom>
          <a:noFill/>
          <a:ln/>
        </p:spPr>
        <p:txBody>
          <a:bodyPr wrap="square" lIns="0" tIns="0" rIns="0" bIns="0" rtlCol="0" anchor="ctr"/>
          <a:lstStyle/>
          <a:p>
            <a:pPr indent="0" marL="0">
              <a:buNone/>
            </a:pPr>
            <a:r>
              <a:rPr lang="en-US" sz="1300" b="1" dirty="0">
                <a:solidFill>
                  <a:schemeClr val="tx2"/>
                </a:solidFill>
              </a:rPr>
              <a:t>Examination-period indicator</a:t>
            </a:r>
            <a:endParaRPr lang="en-US" sz="1300" dirty="0"/>
          </a:p>
        </p:txBody>
      </p:sp>
      <p:sp>
        <p:nvSpPr>
          <p:cNvPr id="35" name="Illustrative tag"/>
          <p:cNvSpPr/>
          <p:nvPr/>
        </p:nvSpPr>
        <p:spPr>
          <a:xfrm>
            <a:off x="3749040" y="1097280"/>
            <a:ext cx="1691640" cy="292608"/>
          </a:xfrm>
          <a:prstGeom prst="roundRect">
            <a:avLst>
              <a:gd name="adj" fmla="val 25000"/>
            </a:avLst>
          </a:prstGeom>
          <a:solidFill>
            <a:schemeClr val="accent5"/>
          </a:solidFill>
          <a:ln w="12700">
            <a:solidFill>
              <a:schemeClr val="accent5"/>
            </a:solidFill>
            <a:prstDash val="solid"/>
          </a:ln>
        </p:spPr>
      </p:sp>
      <p:sp>
        <p:nvSpPr>
          <p:cNvPr id="36" name="Illustrative tag text"/>
          <p:cNvSpPr txBox="1"/>
          <p:nvPr/>
        </p:nvSpPr>
        <p:spPr>
          <a:xfrm>
            <a:off x="3749040" y="1097280"/>
            <a:ext cx="1691640" cy="292608"/>
          </a:xfrm>
          <a:prstGeom prst="rect">
            <a:avLst/>
          </a:prstGeom>
          <a:noFill/>
          <a:ln/>
        </p:spPr>
        <p:txBody>
          <a:bodyPr wrap="square" lIns="0" tIns="0" rIns="0" bIns="0" rtlCol="0" anchor="ctr"/>
          <a:lstStyle/>
          <a:p>
            <a:pPr algn="ctr" indent="0" marL="0">
              <a:buNone/>
            </a:pPr>
            <a:r>
              <a:rPr lang="en-US" sz="1000" b="1" dirty="0">
                <a:solidFill>
                  <a:schemeClr val="tx2"/>
                </a:solidFill>
              </a:rPr>
              <a:t>ILLUSTRATIVE EXAMPLE</a:t>
            </a:r>
            <a:endParaRPr lang="en-US" sz="1000" dirty="0"/>
          </a:p>
        </p:txBody>
      </p:sp>
      <p:sp>
        <p:nvSpPr>
          <p:cNvPr id="37" name="Illustrative note"/>
          <p:cNvSpPr txBox="1"/>
          <p:nvPr/>
        </p:nvSpPr>
        <p:spPr>
          <a:xfrm>
            <a:off x="5577840" y="1069848"/>
            <a:ext cx="3108960" cy="347472"/>
          </a:xfrm>
          <a:prstGeom prst="rect">
            <a:avLst/>
          </a:prstGeom>
          <a:noFill/>
          <a:ln/>
        </p:spPr>
        <p:txBody>
          <a:bodyPr wrap="square" lIns="0" tIns="0" rIns="0" bIns="0" rtlCol="0" anchor="ctr"/>
          <a:lstStyle/>
          <a:p>
            <a:pPr indent="0" marL="0">
              <a:buNone/>
            </a:pPr>
            <a:r>
              <a:rPr lang="en-US" sz="1200" dirty="0">
                <a:solidFill>
                  <a:schemeClr val="accent6"/>
                </a:solidFill>
              </a:rPr>
              <a:t>Values are for explanation only, not project results.</a:t>
            </a:r>
            <a:endParaRPr lang="en-US" sz="1200" dirty="0"/>
          </a:p>
        </p:txBody>
      </p:sp>
      <p:graphicFrame>
        <p:nvGraphicFramePr>
          <p:cNvPr id="7" name="Before and after table"/>
          <p:cNvGraphicFramePr>
            <a:graphicFrameLocks noGrp="1"/>
          </p:cNvGraphicFramePr>
          <p:nvPr>
            <p:extLst>
              <p:ext uri="{D42A27DB-BD31-4B8C-83A1-F6EECF244321}">
                <p14:modId xmlns:p14="http://schemas.microsoft.com/office/powerpoint/2010/main" val="1579011935"/>
              </p:ext>
            </p:extLst>
          </p:nvPr>
        </p:nvGraphicFramePr>
        <p:xfrm>
          <a:off x="3749040" y="1554480"/>
          <a:ext cx="4937760" cy="914400"/>
        </p:xfrm>
        <a:graphic>
          <a:graphicData uri="http://schemas.openxmlformats.org/drawingml/2006/table">
            <a:tbl>
              <a:tblPr/>
              <a:tblGrid>
                <a:gridCol w="1234440"/>
                <a:gridCol w="1005840"/>
                <a:gridCol w="1783080"/>
                <a:gridCol w="914400"/>
              </a:tblGrid>
              <a:tr h="347472">
                <a:tc>
                  <a:txBody>
                    <a:bodyPr/>
                    <a:lstStyle/>
                    <a:p>
                      <a:pPr indent="0" marL="0">
                        <a:buNone/>
                      </a:pPr>
                      <a:r>
                        <a:rPr lang="en-US" sz="1200" b="1" dirty="0">
                          <a:solidFill>
                            <a:srgbClr val="FFFFFF"/>
                          </a:solidFill>
                        </a:rPr>
                        <a:t>Before (raw)</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0B2545"/>
                    </a:solidFill>
                  </a:tcPr>
                </a:tc>
                <a:tc>
                  <a:txBody>
                    <a:bodyPr/>
                    <a:lstStyle/>
                    <a:p>
                      <a:pPr indent="0" marL="0">
                        <a:buNone/>
                      </a:pPr>
                      <a:r>
                        <a:rPr lang="en-US" sz="1200" b="1" dirty="0">
                          <a:solidFill>
                            <a:srgbClr val="FFFFFF"/>
                          </a:solidFill>
                        </a:rPr>
                        <a:t>Example</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0B2545"/>
                    </a:solidFill>
                  </a:tcPr>
                </a:tc>
                <a:tc>
                  <a:txBody>
                    <a:bodyPr/>
                    <a:lstStyle/>
                    <a:p>
                      <a:pPr indent="0" marL="0">
                        <a:buNone/>
                      </a:pPr>
                      <a:r>
                        <a:rPr lang="en-US" sz="1200" b="1" dirty="0">
                          <a:solidFill>
                            <a:srgbClr val="FFFFFF"/>
                          </a:solidFill>
                        </a:rPr>
                        <a:t>After (engineered)</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0B2545"/>
                    </a:solidFill>
                  </a:tcPr>
                </a:tc>
                <a:tc>
                  <a:txBody>
                    <a:bodyPr/>
                    <a:lstStyle/>
                    <a:p>
                      <a:pPr indent="0" marL="0">
                        <a:buNone/>
                      </a:pPr>
                      <a:r>
                        <a:rPr lang="en-US" sz="1200" b="1" dirty="0">
                          <a:solidFill>
                            <a:srgbClr val="FFFFFF"/>
                          </a:solidFill>
                        </a:rPr>
                        <a:t>Example</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0B2545"/>
                    </a:solidFill>
                  </a:tcPr>
                </a:tc>
              </a:tr>
              <a:tr h="502920">
                <a:tc>
                  <a:txBody>
                    <a:bodyPr/>
                    <a:lstStyle/>
                    <a:p>
                      <a:pPr indent="0" marL="0">
                        <a:buNone/>
                      </a:pPr>
                      <a:r>
                        <a:rPr lang="en-US" sz="1200" dirty="0">
                          <a:solidFill>
                            <a:srgbClr val="16212E"/>
                          </a:solidFill>
                        </a:rPr>
                        <a:t>start_time, end_time</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FFFFFF"/>
                    </a:solidFill>
                  </a:tcPr>
                </a:tc>
                <a:tc>
                  <a:txBody>
                    <a:bodyPr/>
                    <a:lstStyle/>
                    <a:p>
                      <a:pPr indent="0" marL="0">
                        <a:buNone/>
                      </a:pPr>
                      <a:r>
                        <a:rPr lang="en-US" sz="1200" dirty="0">
                          <a:solidFill>
                            <a:srgbClr val="16212E"/>
                          </a:solidFill>
                        </a:rPr>
                        <a:t>09:00, 11:30</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FFFFFF"/>
                    </a:solidFill>
                  </a:tcPr>
                </a:tc>
                <a:tc>
                  <a:txBody>
                    <a:bodyPr/>
                    <a:lstStyle/>
                    <a:p>
                      <a:pPr indent="0" marL="0">
                        <a:buNone/>
                      </a:pPr>
                      <a:r>
                        <a:rPr lang="en-US" sz="1200" b="1" dirty="0">
                          <a:solidFill>
                            <a:srgbClr val="0F8B8D"/>
                          </a:solidFill>
                        </a:rPr>
                        <a:t>booking_duration</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FFFFFF"/>
                    </a:solidFill>
                  </a:tcPr>
                </a:tc>
                <a:tc>
                  <a:txBody>
                    <a:bodyPr/>
                    <a:lstStyle/>
                    <a:p>
                      <a:pPr indent="0" marL="0">
                        <a:buNone/>
                      </a:pPr>
                      <a:r>
                        <a:rPr lang="en-US" sz="1200" dirty="0">
                          <a:solidFill>
                            <a:srgbClr val="0F8B8D"/>
                          </a:solidFill>
                        </a:rPr>
                        <a:t>2.5 h</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6212E"/>
                          </a:solidFill>
                        </a:rPr>
                        <a:t>timestamp</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EEF5FB"/>
                    </a:solidFill>
                  </a:tcPr>
                </a:tc>
                <a:tc>
                  <a:txBody>
                    <a:bodyPr/>
                    <a:lstStyle/>
                    <a:p>
                      <a:pPr indent="0" marL="0">
                        <a:buNone/>
                      </a:pPr>
                      <a:r>
                        <a:rPr lang="en-US" sz="1200" dirty="0">
                          <a:solidFill>
                            <a:srgbClr val="16212E"/>
                          </a:solidFill>
                        </a:rPr>
                        <a:t>Mon 14:00</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EEF5FB"/>
                    </a:solidFill>
                  </a:tcPr>
                </a:tc>
                <a:tc>
                  <a:txBody>
                    <a:bodyPr/>
                    <a:lstStyle/>
                    <a:p>
                      <a:pPr indent="0" marL="0">
                        <a:buNone/>
                      </a:pPr>
                      <a:r>
                        <a:rPr lang="en-US" sz="1200" b="1" dirty="0">
                          <a:solidFill>
                            <a:srgbClr val="0F8B8D"/>
                          </a:solidFill>
                        </a:rPr>
                        <a:t>hour_of_day, day_of_week, is_weekend</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EEF5FB"/>
                    </a:solidFill>
                  </a:tcPr>
                </a:tc>
                <a:tc>
                  <a:txBody>
                    <a:bodyPr/>
                    <a:lstStyle/>
                    <a:p>
                      <a:pPr indent="0" marL="0">
                        <a:buNone/>
                      </a:pPr>
                      <a:r>
                        <a:rPr lang="en-US" sz="1200" dirty="0">
                          <a:solidFill>
                            <a:srgbClr val="0F8B8D"/>
                          </a:solidFill>
                        </a:rPr>
                        <a:t>14, Mon, 0</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EEF5FB"/>
                    </a:solidFill>
                  </a:tcPr>
                </a:tc>
              </a:tr>
              <a:tr h="502920">
                <a:tc>
                  <a:txBody>
                    <a:bodyPr/>
                    <a:lstStyle/>
                    <a:p>
                      <a:pPr indent="0" marL="0">
                        <a:buNone/>
                      </a:pPr>
                      <a:r>
                        <a:rPr lang="en-US" sz="1200" dirty="0">
                          <a:solidFill>
                            <a:srgbClr val="16212E"/>
                          </a:solidFill>
                        </a:rPr>
                        <a:t>occupancy, capacity</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FFFFFF"/>
                    </a:solidFill>
                  </a:tcPr>
                </a:tc>
                <a:tc>
                  <a:txBody>
                    <a:bodyPr/>
                    <a:lstStyle/>
                    <a:p>
                      <a:pPr indent="0" marL="0">
                        <a:buNone/>
                      </a:pPr>
                      <a:r>
                        <a:rPr lang="en-US" sz="1200" dirty="0">
                          <a:solidFill>
                            <a:srgbClr val="16212E"/>
                          </a:solidFill>
                        </a:rPr>
                        <a:t>30, 60</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FFFFFF"/>
                    </a:solidFill>
                  </a:tcPr>
                </a:tc>
                <a:tc>
                  <a:txBody>
                    <a:bodyPr/>
                    <a:lstStyle/>
                    <a:p>
                      <a:pPr indent="0" marL="0">
                        <a:buNone/>
                      </a:pPr>
                      <a:r>
                        <a:rPr lang="en-US" sz="1200" b="1" dirty="0">
                          <a:solidFill>
                            <a:srgbClr val="0F8B8D"/>
                          </a:solidFill>
                        </a:rPr>
                        <a:t>utilization_pct</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FFFFFF"/>
                    </a:solidFill>
                  </a:tcPr>
                </a:tc>
                <a:tc>
                  <a:txBody>
                    <a:bodyPr/>
                    <a:lstStyle/>
                    <a:p>
                      <a:pPr indent="0" marL="0">
                        <a:buNone/>
                      </a:pPr>
                      <a:r>
                        <a:rPr lang="en-US" sz="1200" dirty="0">
                          <a:solidFill>
                            <a:srgbClr val="0F8B8D"/>
                          </a:solidFill>
                        </a:rPr>
                        <a:t>50%</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6212E"/>
                          </a:solidFill>
                        </a:rPr>
                        <a:t>utilization_pct</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EEF5FB"/>
                    </a:solidFill>
                  </a:tcPr>
                </a:tc>
                <a:tc>
                  <a:txBody>
                    <a:bodyPr/>
                    <a:lstStyle/>
                    <a:p>
                      <a:pPr indent="0" marL="0">
                        <a:buNone/>
                      </a:pPr>
                      <a:r>
                        <a:rPr lang="en-US" sz="1200" dirty="0">
                          <a:solidFill>
                            <a:srgbClr val="16212E"/>
                          </a:solidFill>
                        </a:rPr>
                        <a:t>50%</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EEF5FB"/>
                    </a:solidFill>
                  </a:tcPr>
                </a:tc>
                <a:tc>
                  <a:txBody>
                    <a:bodyPr/>
                    <a:lstStyle/>
                    <a:p>
                      <a:pPr indent="0" marL="0">
                        <a:buNone/>
                      </a:pPr>
                      <a:r>
                        <a:rPr lang="en-US" sz="1200" b="1" dirty="0">
                          <a:solidFill>
                            <a:srgbClr val="0F8B8D"/>
                          </a:solidFill>
                        </a:rPr>
                        <a:t>utilization_category</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EEF5FB"/>
                    </a:solidFill>
                  </a:tcPr>
                </a:tc>
                <a:tc>
                  <a:txBody>
                    <a:bodyPr/>
                    <a:lstStyle/>
                    <a:p>
                      <a:pPr indent="0" marL="0">
                        <a:buNone/>
                      </a:pPr>
                      <a:r>
                        <a:rPr lang="en-US" sz="1200" dirty="0">
                          <a:solidFill>
                            <a:srgbClr val="0F8B8D"/>
                          </a:solidFill>
                        </a:rPr>
                        <a:t>Medium</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EEF5FB"/>
                    </a:solidFill>
                  </a:tcPr>
                </a:tc>
              </a:tr>
              <a:tr h="502920">
                <a:tc>
                  <a:txBody>
                    <a:bodyPr/>
                    <a:lstStyle/>
                    <a:p>
                      <a:pPr indent="0" marL="0">
                        <a:buNone/>
                      </a:pPr>
                      <a:r>
                        <a:rPr lang="en-US" sz="1200" dirty="0">
                          <a:solidFill>
                            <a:srgbClr val="16212E"/>
                          </a:solidFill>
                        </a:rPr>
                        <a:t>date + calendar.csv</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FFFFFF"/>
                    </a:solidFill>
                  </a:tcPr>
                </a:tc>
                <a:tc>
                  <a:txBody>
                    <a:bodyPr/>
                    <a:lstStyle/>
                    <a:p>
                      <a:pPr indent="0" marL="0">
                        <a:buNone/>
                      </a:pPr>
                      <a:r>
                        <a:rPr lang="en-US" sz="1200" dirty="0">
                          <a:solidFill>
                            <a:srgbClr val="16212E"/>
                          </a:solidFill>
                        </a:rPr>
                        <a:t>Exam week</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FFFFFF"/>
                    </a:solidFill>
                  </a:tcPr>
                </a:tc>
                <a:tc>
                  <a:txBody>
                    <a:bodyPr/>
                    <a:lstStyle/>
                    <a:p>
                      <a:pPr indent="0" marL="0">
                        <a:buNone/>
                      </a:pPr>
                      <a:r>
                        <a:rPr lang="en-US" sz="1200" b="1" dirty="0">
                          <a:solidFill>
                            <a:srgbClr val="0F8B8D"/>
                          </a:solidFill>
                        </a:rPr>
                        <a:t>is_exam_period</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FFFFFF"/>
                    </a:solidFill>
                  </a:tcPr>
                </a:tc>
                <a:tc>
                  <a:txBody>
                    <a:bodyPr/>
                    <a:lstStyle/>
                    <a:p>
                      <a:pPr indent="0" marL="0">
                        <a:buNone/>
                      </a:pPr>
                      <a:r>
                        <a:rPr lang="en-US" sz="1200" dirty="0">
                          <a:solidFill>
                            <a:srgbClr val="0F8B8D"/>
                          </a:solidFill>
                        </a:rPr>
                        <a:t>1</a:t>
                      </a:r>
                      <a:endParaRPr lang="en-US" sz="1200" dirty="0"/>
                    </a:p>
                  </a:txBody>
                  <a:tcPr marL="91440" marR="91440" marT="45720" marB="45720"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046720" y="4828032"/>
            <a:ext cx="6400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Facility Utilization and Peak Periods</a:t>
            </a:r>
            <a:endParaRPr lang="en-US" sz="2800" dirty="0"/>
          </a:p>
        </p:txBody>
      </p:sp>
      <p:sp>
        <p:nvSpPr>
          <p:cNvPr id="3" name="Card 7a"/>
          <p:cNvSpPr/>
          <p:nvPr/>
        </p:nvSpPr>
        <p:spPr>
          <a:xfrm>
            <a:off x="457200" y="1051560"/>
            <a:ext cx="4023360" cy="3520440"/>
          </a:xfrm>
          <a:prstGeom prst="roundRect">
            <a:avLst>
              <a:gd name="adj" fmla="val 2078"/>
            </a:avLst>
          </a:prstGeom>
          <a:solidFill>
            <a:schemeClr val="bg2"/>
          </a:solidFill>
          <a:ln w="12700">
            <a:solidFill>
              <a:schemeClr val="bg2"/>
            </a:solidFill>
            <a:prstDash val="solid"/>
          </a:ln>
        </p:spPr>
      </p:sp>
      <p:sp>
        <p:nvSpPr>
          <p:cNvPr id="4" name="Card label 7a"/>
          <p:cNvSpPr txBox="1"/>
          <p:nvPr/>
        </p:nvSpPr>
        <p:spPr>
          <a:xfrm>
            <a:off x="640080" y="1143000"/>
            <a:ext cx="2651760" cy="274320"/>
          </a:xfrm>
          <a:prstGeom prst="rect">
            <a:avLst/>
          </a:prstGeom>
          <a:noFill/>
          <a:ln/>
        </p:spPr>
        <p:txBody>
          <a:bodyPr wrap="square" lIns="0" tIns="0" rIns="0" bIns="0" rtlCol="0" anchor="ctr"/>
          <a:lstStyle/>
          <a:p>
            <a:pPr indent="0" marL="0">
              <a:buNone/>
            </a:pPr>
            <a:r>
              <a:rPr lang="en-US" sz="1300" b="1" dirty="0">
                <a:solidFill>
                  <a:schemeClr val="accent2"/>
                </a:solidFill>
              </a:rPr>
              <a:t>Q1 · Most-used facilities</a:t>
            </a:r>
            <a:endParaRPr lang="en-US" sz="1300" dirty="0"/>
          </a:p>
        </p:txBody>
      </p:sp>
      <p:sp>
        <p:nvSpPr>
          <p:cNvPr id="5" name="Placeholder tag 7a"/>
          <p:cNvSpPr/>
          <p:nvPr/>
        </p:nvSpPr>
        <p:spPr>
          <a:xfrm>
            <a:off x="3291840" y="1161288"/>
            <a:ext cx="1051560" cy="237744"/>
          </a:xfrm>
          <a:prstGeom prst="roundRect">
            <a:avLst>
              <a:gd name="adj" fmla="val 30769"/>
            </a:avLst>
          </a:prstGeom>
          <a:solidFill>
            <a:schemeClr val="accent5"/>
          </a:solidFill>
          <a:ln w="12700">
            <a:solidFill>
              <a:schemeClr val="accent5"/>
            </a:solidFill>
            <a:prstDash val="solid"/>
          </a:ln>
        </p:spPr>
      </p:sp>
      <p:sp>
        <p:nvSpPr>
          <p:cNvPr id="6" name="Placeholder tag text 7a"/>
          <p:cNvSpPr txBox="1"/>
          <p:nvPr/>
        </p:nvSpPr>
        <p:spPr>
          <a:xfrm>
            <a:off x="3291840" y="1161288"/>
            <a:ext cx="1051560" cy="237744"/>
          </a:xfrm>
          <a:prstGeom prst="rect">
            <a:avLst/>
          </a:prstGeom>
          <a:noFill/>
          <a:ln/>
        </p:spPr>
        <p:txBody>
          <a:bodyPr wrap="square" lIns="0" tIns="0" rIns="0" bIns="0" rtlCol="0" anchor="ctr"/>
          <a:lstStyle/>
          <a:p>
            <a:pPr algn="ctr" indent="0" marL="0">
              <a:buNone/>
            </a:pPr>
            <a:r>
              <a:rPr lang="en-US" sz="1000" b="1" dirty="0">
                <a:solidFill>
                  <a:schemeClr val="tx2"/>
                </a:solidFill>
              </a:rPr>
              <a:t>PLACEHOLDER</a:t>
            </a:r>
            <a:endParaRPr lang="en-US" sz="1000" dirty="0"/>
          </a:p>
        </p:txBody>
      </p:sp>
      <p:graphicFrame>
        <p:nvGraphicFramePr>
          <p:cNvPr id="7" name="Chart 0" descr="Placeholder bar chart"/>
          <p:cNvGraphicFramePr/>
          <p:nvPr/>
        </p:nvGraphicFramePr>
        <p:xfrm>
          <a:off x="594360" y="1463040"/>
          <a:ext cx="3749040" cy="1783080"/>
        </p:xfrm>
        <a:graphic xmlns:a="http://schemas.openxmlformats.org/drawingml/2006/main">
          <a:graphicData uri="http://schemas.openxmlformats.org/drawingml/2006/chart">
            <c:chart xmlns:c="http://schemas.openxmlformats.org/drawingml/2006/chart" r:id="rId1"/>
          </a:graphicData>
        </a:graphic>
      </p:graphicFrame>
      <p:sp>
        <p:nvSpPr>
          <p:cNvPr id="8" name="Explanation 7a"/>
          <p:cNvSpPr txBox="1"/>
          <p:nvPr/>
        </p:nvSpPr>
        <p:spPr>
          <a:xfrm>
            <a:off x="640080" y="3291840"/>
            <a:ext cx="3657600" cy="731520"/>
          </a:xfrm>
          <a:prstGeom prst="rect">
            <a:avLst/>
          </a:prstGeom>
          <a:noFill/>
          <a:ln/>
        </p:spPr>
        <p:txBody>
          <a:bodyPr wrap="square" lIns="0" tIns="0" rIns="0" bIns="0" rtlCol="0" anchor="t"/>
          <a:lstStyle/>
          <a:p>
            <a:pPr indent="0" marL="0">
              <a:buNone/>
            </a:pPr>
            <a:r>
              <a:rPr lang="en-US" sz="1200" dirty="0">
                <a:solidFill>
                  <a:schemeClr val="tx1"/>
                </a:solidFill>
              </a:rPr>
              <a:t>Average utilization by facility highlights heavily used spaces to review for scheduling.</a:t>
            </a:r>
            <a:endParaRPr lang="en-US" sz="1200" dirty="0"/>
          </a:p>
        </p:txBody>
      </p:sp>
      <p:sp>
        <p:nvSpPr>
          <p:cNvPr id="9" name="Replace note 7a"/>
          <p:cNvSpPr txBox="1"/>
          <p:nvPr/>
        </p:nvSpPr>
        <p:spPr>
          <a:xfrm>
            <a:off x="640080" y="4041648"/>
            <a:ext cx="3657600" cy="502920"/>
          </a:xfrm>
          <a:prstGeom prst="rect">
            <a:avLst/>
          </a:prstGeom>
          <a:noFill/>
          <a:ln/>
        </p:spPr>
        <p:txBody>
          <a:bodyPr wrap="square" lIns="0" tIns="0" rIns="0" bIns="0" rtlCol="0" anchor="t"/>
          <a:lstStyle/>
          <a:p>
            <a:pPr indent="0" marL="0">
              <a:buNone/>
            </a:pPr>
            <a:r>
              <a:rPr lang="en-US" sz="1000" i="1" dirty="0">
                <a:solidFill>
                  <a:schemeClr val="accent6"/>
                </a:solidFill>
              </a:rPr>
              <a:t>Replace with: average utilization % per facility (occupancy ÷ capacity, joined with facilities.csv). Right-click chart, Edit Data.</a:t>
            </a:r>
            <a:endParaRPr lang="en-US" sz="1000" dirty="0"/>
          </a:p>
        </p:txBody>
      </p:sp>
      <p:sp>
        <p:nvSpPr>
          <p:cNvPr id="10" name="Card 7b"/>
          <p:cNvSpPr/>
          <p:nvPr/>
        </p:nvSpPr>
        <p:spPr>
          <a:xfrm>
            <a:off x="4663440" y="1051560"/>
            <a:ext cx="4023360" cy="3520440"/>
          </a:xfrm>
          <a:prstGeom prst="roundRect">
            <a:avLst>
              <a:gd name="adj" fmla="val 2078"/>
            </a:avLst>
          </a:prstGeom>
          <a:solidFill>
            <a:schemeClr val="bg2"/>
          </a:solidFill>
          <a:ln w="12700">
            <a:solidFill>
              <a:schemeClr val="bg2"/>
            </a:solidFill>
            <a:prstDash val="solid"/>
          </a:ln>
        </p:spPr>
      </p:sp>
      <p:sp>
        <p:nvSpPr>
          <p:cNvPr id="11" name="Card label 7b"/>
          <p:cNvSpPr txBox="1"/>
          <p:nvPr/>
        </p:nvSpPr>
        <p:spPr>
          <a:xfrm>
            <a:off x="4846320" y="1143000"/>
            <a:ext cx="2651760" cy="274320"/>
          </a:xfrm>
          <a:prstGeom prst="rect">
            <a:avLst/>
          </a:prstGeom>
          <a:noFill/>
          <a:ln/>
        </p:spPr>
        <p:txBody>
          <a:bodyPr wrap="square" lIns="0" tIns="0" rIns="0" bIns="0" rtlCol="0" anchor="ctr"/>
          <a:lstStyle/>
          <a:p>
            <a:pPr indent="0" marL="0">
              <a:buNone/>
            </a:pPr>
            <a:r>
              <a:rPr lang="en-US" sz="1300" b="1" dirty="0">
                <a:solidFill>
                  <a:schemeClr val="accent2"/>
                </a:solidFill>
              </a:rPr>
              <a:t>Q2 · Peak utilization periods</a:t>
            </a:r>
            <a:endParaRPr lang="en-US" sz="1300" dirty="0"/>
          </a:p>
        </p:txBody>
      </p:sp>
      <p:sp>
        <p:nvSpPr>
          <p:cNvPr id="12" name="Placeholder tag 7b"/>
          <p:cNvSpPr/>
          <p:nvPr/>
        </p:nvSpPr>
        <p:spPr>
          <a:xfrm>
            <a:off x="7498080" y="1161288"/>
            <a:ext cx="1051560" cy="237744"/>
          </a:xfrm>
          <a:prstGeom prst="roundRect">
            <a:avLst>
              <a:gd name="adj" fmla="val 30769"/>
            </a:avLst>
          </a:prstGeom>
          <a:solidFill>
            <a:schemeClr val="accent5"/>
          </a:solidFill>
          <a:ln w="12700">
            <a:solidFill>
              <a:schemeClr val="accent5"/>
            </a:solidFill>
            <a:prstDash val="solid"/>
          </a:ln>
        </p:spPr>
      </p:sp>
      <p:sp>
        <p:nvSpPr>
          <p:cNvPr id="13" name="Placeholder tag text 7b"/>
          <p:cNvSpPr txBox="1"/>
          <p:nvPr/>
        </p:nvSpPr>
        <p:spPr>
          <a:xfrm>
            <a:off x="7498080" y="1161288"/>
            <a:ext cx="1051560" cy="237744"/>
          </a:xfrm>
          <a:prstGeom prst="rect">
            <a:avLst/>
          </a:prstGeom>
          <a:noFill/>
          <a:ln/>
        </p:spPr>
        <p:txBody>
          <a:bodyPr wrap="square" lIns="0" tIns="0" rIns="0" bIns="0" rtlCol="0" anchor="ctr"/>
          <a:lstStyle/>
          <a:p>
            <a:pPr algn="ctr" indent="0" marL="0">
              <a:buNone/>
            </a:pPr>
            <a:r>
              <a:rPr lang="en-US" sz="1000" b="1" dirty="0">
                <a:solidFill>
                  <a:schemeClr val="tx2"/>
                </a:solidFill>
              </a:rPr>
              <a:t>PLACEHOLDER</a:t>
            </a:r>
            <a:endParaRPr lang="en-US" sz="1000" dirty="0"/>
          </a:p>
        </p:txBody>
      </p:sp>
      <p:graphicFrame>
        <p:nvGraphicFramePr>
          <p:cNvPr id="14" name="Chart 1" descr="Placeholder line chart"/>
          <p:cNvGraphicFramePr/>
          <p:nvPr/>
        </p:nvGraphicFramePr>
        <p:xfrm>
          <a:off x="4800600" y="1463040"/>
          <a:ext cx="3749040" cy="1783080"/>
        </p:xfrm>
        <a:graphic xmlns:a="http://schemas.openxmlformats.org/drawingml/2006/main">
          <a:graphicData uri="http://schemas.openxmlformats.org/drawingml/2006/chart">
            <c:chart xmlns:c="http://schemas.openxmlformats.org/drawingml/2006/chart" r:id="rId2"/>
          </a:graphicData>
        </a:graphic>
      </p:graphicFrame>
      <p:sp>
        <p:nvSpPr>
          <p:cNvPr id="15" name="Explanation 7b"/>
          <p:cNvSpPr txBox="1"/>
          <p:nvPr/>
        </p:nvSpPr>
        <p:spPr>
          <a:xfrm>
            <a:off x="4846320" y="3291840"/>
            <a:ext cx="3657600" cy="731520"/>
          </a:xfrm>
          <a:prstGeom prst="rect">
            <a:avLst/>
          </a:prstGeom>
          <a:noFill/>
          <a:ln/>
        </p:spPr>
        <p:txBody>
          <a:bodyPr wrap="square" lIns="0" tIns="0" rIns="0" bIns="0" rtlCol="0" anchor="t"/>
          <a:lstStyle/>
          <a:p>
            <a:pPr indent="0" marL="0">
              <a:buNone/>
            </a:pPr>
            <a:r>
              <a:rPr lang="en-US" sz="1200" dirty="0">
                <a:solidFill>
                  <a:schemeClr val="tx1"/>
                </a:solidFill>
              </a:rPr>
              <a:t>Average utilization by hour of day reveals the busiest time windows.</a:t>
            </a:r>
            <a:endParaRPr lang="en-US" sz="1200" dirty="0"/>
          </a:p>
        </p:txBody>
      </p:sp>
      <p:sp>
        <p:nvSpPr>
          <p:cNvPr id="16" name="Replace note 7b"/>
          <p:cNvSpPr txBox="1"/>
          <p:nvPr/>
        </p:nvSpPr>
        <p:spPr>
          <a:xfrm>
            <a:off x="4846320" y="4041648"/>
            <a:ext cx="3657600" cy="502920"/>
          </a:xfrm>
          <a:prstGeom prst="rect">
            <a:avLst/>
          </a:prstGeom>
          <a:noFill/>
          <a:ln/>
        </p:spPr>
        <p:txBody>
          <a:bodyPr wrap="square" lIns="0" tIns="0" rIns="0" bIns="0" rtlCol="0" anchor="t"/>
          <a:lstStyle/>
          <a:p>
            <a:pPr indent="0" marL="0">
              <a:buNone/>
            </a:pPr>
            <a:r>
              <a:rPr lang="en-US" sz="1000" i="1" dirty="0">
                <a:solidFill>
                  <a:schemeClr val="accent6"/>
                </a:solidFill>
              </a:rPr>
              <a:t>Replace with: average utilization % by hour_of_day from the engineered features. Right-click chart, Edit Data.</a:t>
            </a:r>
            <a:endParaRPr lang="en-US" sz="1000" dirty="0"/>
          </a:p>
        </p:txBody>
      </p:sp>
      <p:sp>
        <p:nvSpPr>
          <p:cNvPr id="25" name="Slide Number Placeholder 0"/>
          <p:cNvSpPr>
            <a:spLocks noGrp="1"/>
          </p:cNvSpPr>
          <p:nvPr>
            <p:ph type="sldNum" sz="quarter" idx="4294967295"/>
          </p:nvPr>
        </p:nvSpPr>
        <p:spPr>
          <a:xfrm>
            <a:off x="8046720" y="4828032"/>
            <a:ext cx="6400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Underused Facilities and Examination Impact</a:t>
            </a:r>
            <a:endParaRPr lang="en-US" sz="2800" dirty="0"/>
          </a:p>
        </p:txBody>
      </p:sp>
      <p:sp>
        <p:nvSpPr>
          <p:cNvPr id="3" name="Card 8a"/>
          <p:cNvSpPr/>
          <p:nvPr/>
        </p:nvSpPr>
        <p:spPr>
          <a:xfrm>
            <a:off x="457200" y="1051560"/>
            <a:ext cx="4023360" cy="3520440"/>
          </a:xfrm>
          <a:prstGeom prst="roundRect">
            <a:avLst>
              <a:gd name="adj" fmla="val 2078"/>
            </a:avLst>
          </a:prstGeom>
          <a:solidFill>
            <a:schemeClr val="bg2"/>
          </a:solidFill>
          <a:ln w="12700">
            <a:solidFill>
              <a:schemeClr val="bg2"/>
            </a:solidFill>
            <a:prstDash val="solid"/>
          </a:ln>
        </p:spPr>
      </p:sp>
      <p:sp>
        <p:nvSpPr>
          <p:cNvPr id="4" name="Card label 8a"/>
          <p:cNvSpPr txBox="1"/>
          <p:nvPr/>
        </p:nvSpPr>
        <p:spPr>
          <a:xfrm>
            <a:off x="640080" y="1143000"/>
            <a:ext cx="2651760" cy="274320"/>
          </a:xfrm>
          <a:prstGeom prst="rect">
            <a:avLst/>
          </a:prstGeom>
          <a:noFill/>
          <a:ln/>
        </p:spPr>
        <p:txBody>
          <a:bodyPr wrap="square" lIns="0" tIns="0" rIns="0" bIns="0" rtlCol="0" anchor="ctr"/>
          <a:lstStyle/>
          <a:p>
            <a:pPr indent="0" marL="0">
              <a:buNone/>
            </a:pPr>
            <a:r>
              <a:rPr lang="en-US" sz="1300" b="1" dirty="0">
                <a:solidFill>
                  <a:schemeClr val="accent2"/>
                </a:solidFill>
              </a:rPr>
              <a:t>Q3 · Underused rooms</a:t>
            </a:r>
            <a:endParaRPr lang="en-US" sz="1300" dirty="0"/>
          </a:p>
        </p:txBody>
      </p:sp>
      <p:sp>
        <p:nvSpPr>
          <p:cNvPr id="5" name="Placeholder tag 8a"/>
          <p:cNvSpPr/>
          <p:nvPr/>
        </p:nvSpPr>
        <p:spPr>
          <a:xfrm>
            <a:off x="3291840" y="1161288"/>
            <a:ext cx="1051560" cy="237744"/>
          </a:xfrm>
          <a:prstGeom prst="roundRect">
            <a:avLst>
              <a:gd name="adj" fmla="val 30769"/>
            </a:avLst>
          </a:prstGeom>
          <a:solidFill>
            <a:schemeClr val="accent5"/>
          </a:solidFill>
          <a:ln w="12700">
            <a:solidFill>
              <a:schemeClr val="accent5"/>
            </a:solidFill>
            <a:prstDash val="solid"/>
          </a:ln>
        </p:spPr>
      </p:sp>
      <p:sp>
        <p:nvSpPr>
          <p:cNvPr id="6" name="Placeholder tag text 8a"/>
          <p:cNvSpPr txBox="1"/>
          <p:nvPr/>
        </p:nvSpPr>
        <p:spPr>
          <a:xfrm>
            <a:off x="3291840" y="1161288"/>
            <a:ext cx="1051560" cy="237744"/>
          </a:xfrm>
          <a:prstGeom prst="rect">
            <a:avLst/>
          </a:prstGeom>
          <a:noFill/>
          <a:ln/>
        </p:spPr>
        <p:txBody>
          <a:bodyPr wrap="square" lIns="0" tIns="0" rIns="0" bIns="0" rtlCol="0" anchor="ctr"/>
          <a:lstStyle/>
          <a:p>
            <a:pPr algn="ctr" indent="0" marL="0">
              <a:buNone/>
            </a:pPr>
            <a:r>
              <a:rPr lang="en-US" sz="1000" b="1" dirty="0">
                <a:solidFill>
                  <a:schemeClr val="tx2"/>
                </a:solidFill>
              </a:rPr>
              <a:t>PLACEHOLDER</a:t>
            </a:r>
            <a:endParaRPr lang="en-US" sz="1000" dirty="0"/>
          </a:p>
        </p:txBody>
      </p:sp>
      <p:graphicFrame>
        <p:nvGraphicFramePr>
          <p:cNvPr id="7" name="Chart 0" descr="Placeholder bar chart"/>
          <p:cNvGraphicFramePr/>
          <p:nvPr/>
        </p:nvGraphicFramePr>
        <p:xfrm>
          <a:off x="594360" y="1463040"/>
          <a:ext cx="3749040" cy="1783080"/>
        </p:xfrm>
        <a:graphic xmlns:a="http://schemas.openxmlformats.org/drawingml/2006/main">
          <a:graphicData uri="http://schemas.openxmlformats.org/drawingml/2006/chart">
            <c:chart xmlns:c="http://schemas.openxmlformats.org/drawingml/2006/chart" r:id="rId1"/>
          </a:graphicData>
        </a:graphic>
      </p:graphicFrame>
      <p:sp>
        <p:nvSpPr>
          <p:cNvPr id="8" name="Explanation 8a"/>
          <p:cNvSpPr txBox="1"/>
          <p:nvPr/>
        </p:nvSpPr>
        <p:spPr>
          <a:xfrm>
            <a:off x="640080" y="3291840"/>
            <a:ext cx="3657600" cy="731520"/>
          </a:xfrm>
          <a:prstGeom prst="rect">
            <a:avLst/>
          </a:prstGeom>
          <a:noFill/>
          <a:ln/>
        </p:spPr>
        <p:txBody>
          <a:bodyPr wrap="square" lIns="0" tIns="0" rIns="0" bIns="0" rtlCol="0" anchor="t"/>
          <a:lstStyle/>
          <a:p>
            <a:pPr indent="0" marL="0">
              <a:buNone/>
            </a:pPr>
            <a:r>
              <a:rPr lang="en-US" sz="1200" dirty="0">
                <a:solidFill>
                  <a:schemeClr val="tx1"/>
                </a:solidFill>
              </a:rPr>
              <a:t>Facilities below the selected 25% average-utilization threshold are candidates for space reallocation.</a:t>
            </a:r>
            <a:endParaRPr lang="en-US" sz="1200" dirty="0"/>
          </a:p>
        </p:txBody>
      </p:sp>
      <p:sp>
        <p:nvSpPr>
          <p:cNvPr id="9" name="Replace note 8a"/>
          <p:cNvSpPr txBox="1"/>
          <p:nvPr/>
        </p:nvSpPr>
        <p:spPr>
          <a:xfrm>
            <a:off x="640080" y="4041648"/>
            <a:ext cx="3657600" cy="502920"/>
          </a:xfrm>
          <a:prstGeom prst="rect">
            <a:avLst/>
          </a:prstGeom>
          <a:noFill/>
          <a:ln/>
        </p:spPr>
        <p:txBody>
          <a:bodyPr wrap="square" lIns="0" tIns="0" rIns="0" bIns="0" rtlCol="0" anchor="t"/>
          <a:lstStyle/>
          <a:p>
            <a:pPr indent="0" marL="0">
              <a:buNone/>
            </a:pPr>
            <a:r>
              <a:rPr lang="en-US" sz="1000" i="1" dirty="0">
                <a:solidFill>
                  <a:schemeClr val="accent6"/>
                </a:solidFill>
              </a:rPr>
              <a:t>Replace with: facilities whose average utilization falls below the 25% threshold. Right-click chart, Edit Data.</a:t>
            </a:r>
            <a:endParaRPr lang="en-US" sz="1000" dirty="0"/>
          </a:p>
        </p:txBody>
      </p:sp>
      <p:sp>
        <p:nvSpPr>
          <p:cNvPr id="10" name="Card 8b"/>
          <p:cNvSpPr/>
          <p:nvPr/>
        </p:nvSpPr>
        <p:spPr>
          <a:xfrm>
            <a:off x="4663440" y="1051560"/>
            <a:ext cx="4023360" cy="3520440"/>
          </a:xfrm>
          <a:prstGeom prst="roundRect">
            <a:avLst>
              <a:gd name="adj" fmla="val 2078"/>
            </a:avLst>
          </a:prstGeom>
          <a:solidFill>
            <a:schemeClr val="bg2"/>
          </a:solidFill>
          <a:ln w="12700">
            <a:solidFill>
              <a:schemeClr val="bg2"/>
            </a:solidFill>
            <a:prstDash val="solid"/>
          </a:ln>
        </p:spPr>
      </p:sp>
      <p:sp>
        <p:nvSpPr>
          <p:cNvPr id="11" name="Card label 8b"/>
          <p:cNvSpPr txBox="1"/>
          <p:nvPr/>
        </p:nvSpPr>
        <p:spPr>
          <a:xfrm>
            <a:off x="4846320" y="1143000"/>
            <a:ext cx="2651760" cy="274320"/>
          </a:xfrm>
          <a:prstGeom prst="rect">
            <a:avLst/>
          </a:prstGeom>
          <a:noFill/>
          <a:ln/>
        </p:spPr>
        <p:txBody>
          <a:bodyPr wrap="square" lIns="0" tIns="0" rIns="0" bIns="0" rtlCol="0" anchor="ctr"/>
          <a:lstStyle/>
          <a:p>
            <a:pPr indent="0" marL="0">
              <a:buNone/>
            </a:pPr>
            <a:r>
              <a:rPr lang="en-US" sz="1300" b="1" dirty="0">
                <a:solidFill>
                  <a:schemeClr val="accent2"/>
                </a:solidFill>
              </a:rPr>
              <a:t>Q4 · Examination impact</a:t>
            </a:r>
            <a:endParaRPr lang="en-US" sz="1300" dirty="0"/>
          </a:p>
        </p:txBody>
      </p:sp>
      <p:sp>
        <p:nvSpPr>
          <p:cNvPr id="12" name="Placeholder tag 8b"/>
          <p:cNvSpPr/>
          <p:nvPr/>
        </p:nvSpPr>
        <p:spPr>
          <a:xfrm>
            <a:off x="7498080" y="1161288"/>
            <a:ext cx="1051560" cy="237744"/>
          </a:xfrm>
          <a:prstGeom prst="roundRect">
            <a:avLst>
              <a:gd name="adj" fmla="val 30769"/>
            </a:avLst>
          </a:prstGeom>
          <a:solidFill>
            <a:schemeClr val="accent5"/>
          </a:solidFill>
          <a:ln w="12700">
            <a:solidFill>
              <a:schemeClr val="accent5"/>
            </a:solidFill>
            <a:prstDash val="solid"/>
          </a:ln>
        </p:spPr>
      </p:sp>
      <p:sp>
        <p:nvSpPr>
          <p:cNvPr id="13" name="Placeholder tag text 8b"/>
          <p:cNvSpPr txBox="1"/>
          <p:nvPr/>
        </p:nvSpPr>
        <p:spPr>
          <a:xfrm>
            <a:off x="7498080" y="1161288"/>
            <a:ext cx="1051560" cy="237744"/>
          </a:xfrm>
          <a:prstGeom prst="rect">
            <a:avLst/>
          </a:prstGeom>
          <a:noFill/>
          <a:ln/>
        </p:spPr>
        <p:txBody>
          <a:bodyPr wrap="square" lIns="0" tIns="0" rIns="0" bIns="0" rtlCol="0" anchor="ctr"/>
          <a:lstStyle/>
          <a:p>
            <a:pPr algn="ctr" indent="0" marL="0">
              <a:buNone/>
            </a:pPr>
            <a:r>
              <a:rPr lang="en-US" sz="1000" b="1" dirty="0">
                <a:solidFill>
                  <a:schemeClr val="tx2"/>
                </a:solidFill>
              </a:rPr>
              <a:t>PLACEHOLDER</a:t>
            </a:r>
            <a:endParaRPr lang="en-US" sz="1000" dirty="0"/>
          </a:p>
        </p:txBody>
      </p:sp>
      <p:graphicFrame>
        <p:nvGraphicFramePr>
          <p:cNvPr id="14" name="Chart 1" descr="Placeholder column chart"/>
          <p:cNvGraphicFramePr/>
          <p:nvPr/>
        </p:nvGraphicFramePr>
        <p:xfrm>
          <a:off x="4800600" y="1463040"/>
          <a:ext cx="3749040" cy="1783080"/>
        </p:xfrm>
        <a:graphic xmlns:a="http://schemas.openxmlformats.org/drawingml/2006/main">
          <a:graphicData uri="http://schemas.openxmlformats.org/drawingml/2006/chart">
            <c:chart xmlns:c="http://schemas.openxmlformats.org/drawingml/2006/chart" r:id="rId2"/>
          </a:graphicData>
        </a:graphic>
      </p:graphicFrame>
      <p:sp>
        <p:nvSpPr>
          <p:cNvPr id="15" name="Explanation 8b"/>
          <p:cNvSpPr txBox="1"/>
          <p:nvPr/>
        </p:nvSpPr>
        <p:spPr>
          <a:xfrm>
            <a:off x="4846320" y="3291840"/>
            <a:ext cx="3657600" cy="731520"/>
          </a:xfrm>
          <a:prstGeom prst="rect">
            <a:avLst/>
          </a:prstGeom>
          <a:noFill/>
          <a:ln/>
        </p:spPr>
        <p:txBody>
          <a:bodyPr wrap="square" lIns="0" tIns="0" rIns="0" bIns="0" rtlCol="0" anchor="t"/>
          <a:lstStyle/>
          <a:p>
            <a:pPr indent="0" marL="0">
              <a:buNone/>
            </a:pPr>
            <a:r>
              <a:rPr lang="en-US" sz="1200" dirty="0">
                <a:solidFill>
                  <a:schemeClr val="tx1"/>
                </a:solidFill>
              </a:rPr>
              <a:t>Compares average utilization in exam and non-exam periods to show changes in demand.</a:t>
            </a:r>
            <a:endParaRPr lang="en-US" sz="1200" dirty="0"/>
          </a:p>
        </p:txBody>
      </p:sp>
      <p:sp>
        <p:nvSpPr>
          <p:cNvPr id="16" name="Replace note 8b"/>
          <p:cNvSpPr txBox="1"/>
          <p:nvPr/>
        </p:nvSpPr>
        <p:spPr>
          <a:xfrm>
            <a:off x="4846320" y="4041648"/>
            <a:ext cx="3657600" cy="502920"/>
          </a:xfrm>
          <a:prstGeom prst="rect">
            <a:avLst/>
          </a:prstGeom>
          <a:noFill/>
          <a:ln/>
        </p:spPr>
        <p:txBody>
          <a:bodyPr wrap="square" lIns="0" tIns="0" rIns="0" bIns="0" rtlCol="0" anchor="t"/>
          <a:lstStyle/>
          <a:p>
            <a:pPr indent="0" marL="0">
              <a:buNone/>
            </a:pPr>
            <a:r>
              <a:rPr lang="en-US" sz="1000" i="1" dirty="0">
                <a:solidFill>
                  <a:schemeClr val="accent6"/>
                </a:solidFill>
              </a:rPr>
              <a:t>Depends on accurate date matching and enough observations. No exam effect is claimed until results are verified.</a:t>
            </a:r>
            <a:endParaRPr lang="en-US" sz="1000" dirty="0"/>
          </a:p>
        </p:txBody>
      </p:sp>
      <p:sp>
        <p:nvSpPr>
          <p:cNvPr id="25" name="Slide Number Placeholder 0"/>
          <p:cNvSpPr>
            <a:spLocks noGrp="1"/>
          </p:cNvSpPr>
          <p:nvPr>
            <p:ph type="sldNum" sz="quarter" idx="4294967295"/>
          </p:nvPr>
        </p:nvSpPr>
        <p:spPr>
          <a:xfrm>
            <a:off x="8046720" y="4828032"/>
            <a:ext cx="6400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Maintenance and Capacity Analysis</a:t>
            </a:r>
            <a:endParaRPr lang="en-US" sz="2800" dirty="0"/>
          </a:p>
        </p:txBody>
      </p:sp>
      <p:sp>
        <p:nvSpPr>
          <p:cNvPr id="3" name="Card 9a"/>
          <p:cNvSpPr/>
          <p:nvPr/>
        </p:nvSpPr>
        <p:spPr>
          <a:xfrm>
            <a:off x="457200" y="1051560"/>
            <a:ext cx="4023360" cy="3520440"/>
          </a:xfrm>
          <a:prstGeom prst="roundRect">
            <a:avLst>
              <a:gd name="adj" fmla="val 2078"/>
            </a:avLst>
          </a:prstGeom>
          <a:solidFill>
            <a:schemeClr val="bg2"/>
          </a:solidFill>
          <a:ln w="12700">
            <a:solidFill>
              <a:schemeClr val="bg2"/>
            </a:solidFill>
            <a:prstDash val="solid"/>
          </a:ln>
        </p:spPr>
      </p:sp>
      <p:sp>
        <p:nvSpPr>
          <p:cNvPr id="4" name="Card label 9a"/>
          <p:cNvSpPr txBox="1"/>
          <p:nvPr/>
        </p:nvSpPr>
        <p:spPr>
          <a:xfrm>
            <a:off x="640080" y="1143000"/>
            <a:ext cx="2651760" cy="274320"/>
          </a:xfrm>
          <a:prstGeom prst="rect">
            <a:avLst/>
          </a:prstGeom>
          <a:noFill/>
          <a:ln/>
        </p:spPr>
        <p:txBody>
          <a:bodyPr wrap="square" lIns="0" tIns="0" rIns="0" bIns="0" rtlCol="0" anchor="ctr"/>
          <a:lstStyle/>
          <a:p>
            <a:pPr indent="0" marL="0">
              <a:buNone/>
            </a:pPr>
            <a:r>
              <a:rPr lang="en-US" sz="1300" b="1" dirty="0">
                <a:solidFill>
                  <a:schemeClr val="accent2"/>
                </a:solidFill>
              </a:rPr>
              <a:t>Q5 · Maintenance frequency</a:t>
            </a:r>
            <a:endParaRPr lang="en-US" sz="1300" dirty="0"/>
          </a:p>
        </p:txBody>
      </p:sp>
      <p:sp>
        <p:nvSpPr>
          <p:cNvPr id="5" name="Placeholder tag 9a"/>
          <p:cNvSpPr/>
          <p:nvPr/>
        </p:nvSpPr>
        <p:spPr>
          <a:xfrm>
            <a:off x="3291840" y="1161288"/>
            <a:ext cx="1051560" cy="237744"/>
          </a:xfrm>
          <a:prstGeom prst="roundRect">
            <a:avLst>
              <a:gd name="adj" fmla="val 30769"/>
            </a:avLst>
          </a:prstGeom>
          <a:solidFill>
            <a:schemeClr val="accent5"/>
          </a:solidFill>
          <a:ln w="12700">
            <a:solidFill>
              <a:schemeClr val="accent5"/>
            </a:solidFill>
            <a:prstDash val="solid"/>
          </a:ln>
        </p:spPr>
      </p:sp>
      <p:sp>
        <p:nvSpPr>
          <p:cNvPr id="6" name="Placeholder tag text 9a"/>
          <p:cNvSpPr txBox="1"/>
          <p:nvPr/>
        </p:nvSpPr>
        <p:spPr>
          <a:xfrm>
            <a:off x="3291840" y="1161288"/>
            <a:ext cx="1051560" cy="237744"/>
          </a:xfrm>
          <a:prstGeom prst="rect">
            <a:avLst/>
          </a:prstGeom>
          <a:noFill/>
          <a:ln/>
        </p:spPr>
        <p:txBody>
          <a:bodyPr wrap="square" lIns="0" tIns="0" rIns="0" bIns="0" rtlCol="0" anchor="ctr"/>
          <a:lstStyle/>
          <a:p>
            <a:pPr algn="ctr" indent="0" marL="0">
              <a:buNone/>
            </a:pPr>
            <a:r>
              <a:rPr lang="en-US" sz="1000" b="1" dirty="0">
                <a:solidFill>
                  <a:schemeClr val="tx2"/>
                </a:solidFill>
              </a:rPr>
              <a:t>PLACEHOLDER</a:t>
            </a:r>
            <a:endParaRPr lang="en-US" sz="1000" dirty="0"/>
          </a:p>
        </p:txBody>
      </p:sp>
      <p:graphicFrame>
        <p:nvGraphicFramePr>
          <p:cNvPr id="7" name="Chart 0" descr="Placeholder bar chart"/>
          <p:cNvGraphicFramePr/>
          <p:nvPr/>
        </p:nvGraphicFramePr>
        <p:xfrm>
          <a:off x="594360" y="1463040"/>
          <a:ext cx="3749040" cy="1783080"/>
        </p:xfrm>
        <a:graphic xmlns:a="http://schemas.openxmlformats.org/drawingml/2006/main">
          <a:graphicData uri="http://schemas.openxmlformats.org/drawingml/2006/chart">
            <c:chart xmlns:c="http://schemas.openxmlformats.org/drawingml/2006/chart" r:id="rId1"/>
          </a:graphicData>
        </a:graphic>
      </p:graphicFrame>
      <p:sp>
        <p:nvSpPr>
          <p:cNvPr id="8" name="Explanation 9a"/>
          <p:cNvSpPr txBox="1"/>
          <p:nvPr/>
        </p:nvSpPr>
        <p:spPr>
          <a:xfrm>
            <a:off x="640080" y="3291840"/>
            <a:ext cx="3657600" cy="731520"/>
          </a:xfrm>
          <a:prstGeom prst="rect">
            <a:avLst/>
          </a:prstGeom>
          <a:noFill/>
          <a:ln/>
        </p:spPr>
        <p:txBody>
          <a:bodyPr wrap="square" lIns="0" tIns="0" rIns="0" bIns="0" rtlCol="0" anchor="t"/>
          <a:lstStyle/>
          <a:p>
            <a:pPr indent="0" marL="0">
              <a:buNone/>
            </a:pPr>
            <a:r>
              <a:rPr lang="en-US" sz="1200" dirty="0">
                <a:solidFill>
                  <a:schemeClr val="tx1"/>
                </a:solidFill>
              </a:rPr>
              <a:t>Frequency (records per facility) is not downtime duration. Duration is not labeled as hours unless the dataset documentation confirms the unit.</a:t>
            </a:r>
            <a:endParaRPr lang="en-US" sz="1200" dirty="0"/>
          </a:p>
        </p:txBody>
      </p:sp>
      <p:sp>
        <p:nvSpPr>
          <p:cNvPr id="9" name="Replace note 9a"/>
          <p:cNvSpPr txBox="1"/>
          <p:nvPr/>
        </p:nvSpPr>
        <p:spPr>
          <a:xfrm>
            <a:off x="640080" y="4041648"/>
            <a:ext cx="3657600" cy="502920"/>
          </a:xfrm>
          <a:prstGeom prst="rect">
            <a:avLst/>
          </a:prstGeom>
          <a:noFill/>
          <a:ln/>
        </p:spPr>
        <p:txBody>
          <a:bodyPr wrap="square" lIns="0" tIns="0" rIns="0" bIns="0" rtlCol="0" anchor="t"/>
          <a:lstStyle/>
          <a:p>
            <a:pPr indent="0" marL="0">
              <a:buNone/>
            </a:pPr>
            <a:r>
              <a:rPr lang="en-US" sz="1000" i="1" dirty="0">
                <a:solidFill>
                  <a:schemeClr val="accent6"/>
                </a:solidFill>
              </a:rPr>
              <a:t>Replace with: count of maintenance records per facility from maintenance.csv. Right-click chart, Edit Data.</a:t>
            </a:r>
            <a:endParaRPr lang="en-US" sz="1000" dirty="0"/>
          </a:p>
        </p:txBody>
      </p:sp>
      <p:sp>
        <p:nvSpPr>
          <p:cNvPr id="10" name="Card 9b"/>
          <p:cNvSpPr/>
          <p:nvPr/>
        </p:nvSpPr>
        <p:spPr>
          <a:xfrm>
            <a:off x="4663440" y="1051560"/>
            <a:ext cx="4023360" cy="3520440"/>
          </a:xfrm>
          <a:prstGeom prst="roundRect">
            <a:avLst>
              <a:gd name="adj" fmla="val 2078"/>
            </a:avLst>
          </a:prstGeom>
          <a:solidFill>
            <a:schemeClr val="bg2"/>
          </a:solidFill>
          <a:ln w="12700">
            <a:solidFill>
              <a:schemeClr val="bg2"/>
            </a:solidFill>
            <a:prstDash val="solid"/>
          </a:ln>
        </p:spPr>
      </p:sp>
      <p:sp>
        <p:nvSpPr>
          <p:cNvPr id="11" name="Card label 9b"/>
          <p:cNvSpPr txBox="1"/>
          <p:nvPr/>
        </p:nvSpPr>
        <p:spPr>
          <a:xfrm>
            <a:off x="4846320" y="1143000"/>
            <a:ext cx="2651760" cy="274320"/>
          </a:xfrm>
          <a:prstGeom prst="rect">
            <a:avLst/>
          </a:prstGeom>
          <a:noFill/>
          <a:ln/>
        </p:spPr>
        <p:txBody>
          <a:bodyPr wrap="square" lIns="0" tIns="0" rIns="0" bIns="0" rtlCol="0" anchor="ctr"/>
          <a:lstStyle/>
          <a:p>
            <a:pPr indent="0" marL="0">
              <a:buNone/>
            </a:pPr>
            <a:r>
              <a:rPr lang="en-US" sz="1300" b="1" dirty="0">
                <a:solidFill>
                  <a:schemeClr val="accent2"/>
                </a:solidFill>
              </a:rPr>
              <a:t>Q6 · Capacity vs occupancy</a:t>
            </a:r>
            <a:endParaRPr lang="en-US" sz="1300" dirty="0"/>
          </a:p>
        </p:txBody>
      </p:sp>
      <p:sp>
        <p:nvSpPr>
          <p:cNvPr id="12" name="Placeholder tag 9b"/>
          <p:cNvSpPr/>
          <p:nvPr/>
        </p:nvSpPr>
        <p:spPr>
          <a:xfrm>
            <a:off x="7498080" y="1161288"/>
            <a:ext cx="1051560" cy="237744"/>
          </a:xfrm>
          <a:prstGeom prst="roundRect">
            <a:avLst>
              <a:gd name="adj" fmla="val 30769"/>
            </a:avLst>
          </a:prstGeom>
          <a:solidFill>
            <a:schemeClr val="accent5"/>
          </a:solidFill>
          <a:ln w="12700">
            <a:solidFill>
              <a:schemeClr val="accent5"/>
            </a:solidFill>
            <a:prstDash val="solid"/>
          </a:ln>
        </p:spPr>
      </p:sp>
      <p:sp>
        <p:nvSpPr>
          <p:cNvPr id="13" name="Placeholder tag text 9b"/>
          <p:cNvSpPr txBox="1"/>
          <p:nvPr/>
        </p:nvSpPr>
        <p:spPr>
          <a:xfrm>
            <a:off x="7498080" y="1161288"/>
            <a:ext cx="1051560" cy="237744"/>
          </a:xfrm>
          <a:prstGeom prst="rect">
            <a:avLst/>
          </a:prstGeom>
          <a:noFill/>
          <a:ln/>
        </p:spPr>
        <p:txBody>
          <a:bodyPr wrap="square" lIns="0" tIns="0" rIns="0" bIns="0" rtlCol="0" anchor="ctr"/>
          <a:lstStyle/>
          <a:p>
            <a:pPr algn="ctr" indent="0" marL="0">
              <a:buNone/>
            </a:pPr>
            <a:r>
              <a:rPr lang="en-US" sz="1000" b="1" dirty="0">
                <a:solidFill>
                  <a:schemeClr val="tx2"/>
                </a:solidFill>
              </a:rPr>
              <a:t>PLACEHOLDER</a:t>
            </a:r>
            <a:endParaRPr lang="en-US" sz="1000" dirty="0"/>
          </a:p>
        </p:txBody>
      </p:sp>
      <p:graphicFrame>
        <p:nvGraphicFramePr>
          <p:cNvPr id="14" name="Chart 1" descr="Placeholder scatter plot"/>
          <p:cNvGraphicFramePr/>
          <p:nvPr/>
        </p:nvGraphicFramePr>
        <p:xfrm>
          <a:off x="4800600" y="1463040"/>
          <a:ext cx="3749040" cy="1783080"/>
        </p:xfrm>
        <a:graphic xmlns:a="http://schemas.openxmlformats.org/drawingml/2006/main">
          <a:graphicData uri="http://schemas.openxmlformats.org/drawingml/2006/chart">
            <c:chart xmlns:c="http://schemas.openxmlformats.org/drawingml/2006/chart" r:id="rId2"/>
          </a:graphicData>
        </a:graphic>
      </p:graphicFrame>
      <p:sp>
        <p:nvSpPr>
          <p:cNvPr id="15" name="Explanation 9b"/>
          <p:cNvSpPr txBox="1"/>
          <p:nvPr/>
        </p:nvSpPr>
        <p:spPr>
          <a:xfrm>
            <a:off x="4846320" y="3291840"/>
            <a:ext cx="3657600" cy="731520"/>
          </a:xfrm>
          <a:prstGeom prst="rect">
            <a:avLst/>
          </a:prstGeom>
          <a:noFill/>
          <a:ln/>
        </p:spPr>
        <p:txBody>
          <a:bodyPr wrap="square" lIns="0" tIns="0" rIns="0" bIns="0" rtlCol="0" anchor="t"/>
          <a:lstStyle/>
          <a:p>
            <a:pPr indent="0" marL="0">
              <a:buNone/>
            </a:pPr>
            <a:r>
              <a:rPr lang="en-US" sz="1200" dirty="0">
                <a:solidFill>
                  <a:schemeClr val="tx1"/>
                </a:solidFill>
              </a:rPr>
              <a:t>Compares facility capacity with average recorded occupancy to show whether space size matches actual use.</a:t>
            </a:r>
            <a:endParaRPr lang="en-US" sz="1200" dirty="0"/>
          </a:p>
        </p:txBody>
      </p:sp>
      <p:sp>
        <p:nvSpPr>
          <p:cNvPr id="16" name="Replace note 9b"/>
          <p:cNvSpPr txBox="1"/>
          <p:nvPr/>
        </p:nvSpPr>
        <p:spPr>
          <a:xfrm>
            <a:off x="4846320" y="4041648"/>
            <a:ext cx="3657600" cy="502920"/>
          </a:xfrm>
          <a:prstGeom prst="rect">
            <a:avLst/>
          </a:prstGeom>
          <a:noFill/>
          <a:ln/>
        </p:spPr>
        <p:txBody>
          <a:bodyPr wrap="square" lIns="0" tIns="0" rIns="0" bIns="0" rtlCol="0" anchor="t"/>
          <a:lstStyle/>
          <a:p>
            <a:pPr indent="0" marL="0">
              <a:buNone/>
            </a:pPr>
            <a:r>
              <a:rPr lang="en-US" sz="1000" i="1" dirty="0">
                <a:solidFill>
                  <a:schemeClr val="accent6"/>
                </a:solidFill>
              </a:rPr>
              <a:t>Replace with: capacity from facilities.csv vs. average occupancy from occupancy.csv. Right-click chart, Edit Data.</a:t>
            </a:r>
            <a:endParaRPr lang="en-US" sz="1000" dirty="0"/>
          </a:p>
        </p:txBody>
      </p:sp>
      <p:sp>
        <p:nvSpPr>
          <p:cNvPr id="25" name="Slide Number Placeholder 0"/>
          <p:cNvSpPr>
            <a:spLocks noGrp="1"/>
          </p:cNvSpPr>
          <p:nvPr>
            <p:ph type="sldNum" sz="quarter" idx="4294967295"/>
          </p:nvPr>
        </p:nvSpPr>
        <p:spPr>
          <a:xfrm>
            <a:off x="8046720" y="4828032"/>
            <a:ext cx="6400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Conclusion and Recommendations</a:t>
            </a:r>
            <a:endParaRPr lang="en-US" sz="2800" dirty="0"/>
          </a:p>
        </p:txBody>
      </p:sp>
      <p:sp>
        <p:nvSpPr>
          <p:cNvPr id="3" name="Summary line"/>
          <p:cNvSpPr txBox="1"/>
          <p:nvPr/>
        </p:nvSpPr>
        <p:spPr>
          <a:xfrm>
            <a:off x="457200" y="960120"/>
            <a:ext cx="8229600" cy="502920"/>
          </a:xfrm>
          <a:prstGeom prst="rect">
            <a:avLst/>
          </a:prstGeom>
          <a:noFill/>
          <a:ln/>
        </p:spPr>
        <p:txBody>
          <a:bodyPr wrap="square" lIns="0" tIns="0" rIns="0" bIns="0" rtlCol="0" anchor="ctr"/>
          <a:lstStyle/>
          <a:p>
            <a:pPr indent="0" marL="0">
              <a:buNone/>
            </a:pPr>
            <a:r>
              <a:rPr lang="en-US" sz="1400" dirty="0">
                <a:solidFill>
                  <a:schemeClr val="accent6"/>
                </a:solidFill>
              </a:rPr>
              <a:t>Facility records become evidence for scheduling, space allocation and maintenance planning. These are recommendations, not verified findings.</a:t>
            </a:r>
            <a:endParaRPr lang="en-US" sz="1400" dirty="0"/>
          </a:p>
        </p:txBody>
      </p:sp>
      <p:sp>
        <p:nvSpPr>
          <p:cNvPr id="4" name="Recommendation card 1"/>
          <p:cNvSpPr/>
          <p:nvPr/>
        </p:nvSpPr>
        <p:spPr>
          <a:xfrm>
            <a:off x="457200" y="1554480"/>
            <a:ext cx="4023360" cy="640080"/>
          </a:xfrm>
          <a:prstGeom prst="roundRect">
            <a:avLst>
              <a:gd name="adj" fmla="val 11429"/>
            </a:avLst>
          </a:prstGeom>
          <a:solidFill>
            <a:schemeClr val="bg2"/>
          </a:solidFill>
          <a:ln w="12700">
            <a:solidFill>
              <a:schemeClr val="bg2"/>
            </a:solidFill>
            <a:prstDash val="solid"/>
          </a:ln>
        </p:spPr>
      </p:sp>
      <p:sp>
        <p:nvSpPr>
          <p:cNvPr id="5" name="Recommendation icon 1 circle"/>
          <p:cNvSpPr/>
          <p:nvPr/>
        </p:nvSpPr>
        <p:spPr>
          <a:xfrm>
            <a:off x="566928" y="1645920"/>
            <a:ext cx="457200" cy="457200"/>
          </a:xfrm>
          <a:prstGeom prst="ellipse">
            <a:avLst/>
          </a:prstGeom>
          <a:solidFill>
            <a:schemeClr val="accent2"/>
          </a:solidFill>
          <a:ln w="12700">
            <a:solidFill>
              <a:schemeClr val="accent2"/>
            </a:solidFill>
            <a:prstDash val="solid"/>
          </a:ln>
        </p:spPr>
      </p:sp>
      <p:pic>
        <p:nvPicPr>
          <p:cNvPr id="6" name="Image 0" descr="Recommendation icon 1">    </p:cNvPr>
          <p:cNvPicPr>
            <a:picLocks noChangeAspect="1"/>
          </p:cNvPicPr>
          <p:nvPr/>
        </p:nvPicPr>
        <p:blipFill>
          <a:blip r:embed="rId1"/>
          <a:stretch>
            <a:fillRect/>
          </a:stretch>
        </p:blipFill>
        <p:spPr>
          <a:xfrm>
            <a:off x="685800" y="1764792"/>
            <a:ext cx="219456" cy="219456"/>
          </a:xfrm>
          <a:prstGeom prst="rect">
            <a:avLst/>
          </a:prstGeom>
        </p:spPr>
      </p:pic>
      <p:sp>
        <p:nvSpPr>
          <p:cNvPr id="7" name="Recommendation 1"/>
          <p:cNvSpPr txBox="1"/>
          <p:nvPr/>
        </p:nvSpPr>
        <p:spPr>
          <a:xfrm>
            <a:off x="1170432" y="1554480"/>
            <a:ext cx="3200400" cy="640080"/>
          </a:xfrm>
          <a:prstGeom prst="rect">
            <a:avLst/>
          </a:prstGeom>
          <a:noFill/>
          <a:ln/>
        </p:spPr>
        <p:txBody>
          <a:bodyPr wrap="square" lIns="0" tIns="0" rIns="0" bIns="0" rtlCol="0" anchor="ctr"/>
          <a:lstStyle/>
          <a:p>
            <a:pPr indent="0" marL="0">
              <a:buNone/>
            </a:pPr>
            <a:r>
              <a:rPr lang="en-US" sz="1400" b="1" dirty="0">
                <a:solidFill>
                  <a:schemeClr val="tx2"/>
                </a:solidFill>
              </a:rPr>
              <a:t>Review scheduling for heavily utilized facilities</a:t>
            </a:r>
            <a:endParaRPr lang="en-US" sz="1400" dirty="0"/>
          </a:p>
        </p:txBody>
      </p:sp>
      <p:sp>
        <p:nvSpPr>
          <p:cNvPr id="8" name="Recommendation card 2"/>
          <p:cNvSpPr/>
          <p:nvPr/>
        </p:nvSpPr>
        <p:spPr>
          <a:xfrm>
            <a:off x="4663440" y="1554480"/>
            <a:ext cx="4023360" cy="640080"/>
          </a:xfrm>
          <a:prstGeom prst="roundRect">
            <a:avLst>
              <a:gd name="adj" fmla="val 11429"/>
            </a:avLst>
          </a:prstGeom>
          <a:solidFill>
            <a:schemeClr val="bg2"/>
          </a:solidFill>
          <a:ln w="12700">
            <a:solidFill>
              <a:schemeClr val="bg2"/>
            </a:solidFill>
            <a:prstDash val="solid"/>
          </a:ln>
        </p:spPr>
      </p:sp>
      <p:sp>
        <p:nvSpPr>
          <p:cNvPr id="9" name="Recommendation icon 2 circle"/>
          <p:cNvSpPr/>
          <p:nvPr/>
        </p:nvSpPr>
        <p:spPr>
          <a:xfrm>
            <a:off x="4773168" y="1645920"/>
            <a:ext cx="457200" cy="457200"/>
          </a:xfrm>
          <a:prstGeom prst="ellipse">
            <a:avLst/>
          </a:prstGeom>
          <a:solidFill>
            <a:schemeClr val="accent2"/>
          </a:solidFill>
          <a:ln w="12700">
            <a:solidFill>
              <a:schemeClr val="accent2"/>
            </a:solidFill>
            <a:prstDash val="solid"/>
          </a:ln>
        </p:spPr>
      </p:sp>
      <p:pic>
        <p:nvPicPr>
          <p:cNvPr id="10" name="Image 1" descr="Recommendation icon 2">    </p:cNvPr>
          <p:cNvPicPr>
            <a:picLocks noChangeAspect="1"/>
          </p:cNvPicPr>
          <p:nvPr/>
        </p:nvPicPr>
        <p:blipFill>
          <a:blip r:embed="rId2"/>
          <a:stretch>
            <a:fillRect/>
          </a:stretch>
        </p:blipFill>
        <p:spPr>
          <a:xfrm>
            <a:off x="4892040" y="1764792"/>
            <a:ext cx="219456" cy="219456"/>
          </a:xfrm>
          <a:prstGeom prst="rect">
            <a:avLst/>
          </a:prstGeom>
        </p:spPr>
      </p:pic>
      <p:sp>
        <p:nvSpPr>
          <p:cNvPr id="11" name="Recommendation 2"/>
          <p:cNvSpPr txBox="1"/>
          <p:nvPr/>
        </p:nvSpPr>
        <p:spPr>
          <a:xfrm>
            <a:off x="5376672" y="1554480"/>
            <a:ext cx="3200400" cy="640080"/>
          </a:xfrm>
          <a:prstGeom prst="rect">
            <a:avLst/>
          </a:prstGeom>
          <a:noFill/>
          <a:ln/>
        </p:spPr>
        <p:txBody>
          <a:bodyPr wrap="square" lIns="0" tIns="0" rIns="0" bIns="0" rtlCol="0" anchor="ctr"/>
          <a:lstStyle/>
          <a:p>
            <a:pPr indent="0" marL="0">
              <a:buNone/>
            </a:pPr>
            <a:r>
              <a:rPr lang="en-US" sz="1400" b="1" dirty="0">
                <a:solidFill>
                  <a:schemeClr val="tx2"/>
                </a:solidFill>
              </a:rPr>
              <a:t>Investigate consistently underused spaces</a:t>
            </a:r>
            <a:endParaRPr lang="en-US" sz="1400" dirty="0"/>
          </a:p>
        </p:txBody>
      </p:sp>
      <p:sp>
        <p:nvSpPr>
          <p:cNvPr id="12" name="Recommendation card 3"/>
          <p:cNvSpPr/>
          <p:nvPr/>
        </p:nvSpPr>
        <p:spPr>
          <a:xfrm>
            <a:off x="457200" y="2286000"/>
            <a:ext cx="4023360" cy="640080"/>
          </a:xfrm>
          <a:prstGeom prst="roundRect">
            <a:avLst>
              <a:gd name="adj" fmla="val 11429"/>
            </a:avLst>
          </a:prstGeom>
          <a:solidFill>
            <a:schemeClr val="bg2"/>
          </a:solidFill>
          <a:ln w="12700">
            <a:solidFill>
              <a:schemeClr val="bg2"/>
            </a:solidFill>
            <a:prstDash val="solid"/>
          </a:ln>
        </p:spPr>
      </p:sp>
      <p:sp>
        <p:nvSpPr>
          <p:cNvPr id="13" name="Recommendation icon 3 circle"/>
          <p:cNvSpPr/>
          <p:nvPr/>
        </p:nvSpPr>
        <p:spPr>
          <a:xfrm>
            <a:off x="566928" y="2377440"/>
            <a:ext cx="457200" cy="457200"/>
          </a:xfrm>
          <a:prstGeom prst="ellipse">
            <a:avLst/>
          </a:prstGeom>
          <a:solidFill>
            <a:schemeClr val="accent2"/>
          </a:solidFill>
          <a:ln w="12700">
            <a:solidFill>
              <a:schemeClr val="accent2"/>
            </a:solidFill>
            <a:prstDash val="solid"/>
          </a:ln>
        </p:spPr>
      </p:sp>
      <p:pic>
        <p:nvPicPr>
          <p:cNvPr id="14" name="Image 2" descr="Recommendation icon 3">    </p:cNvPr>
          <p:cNvPicPr>
            <a:picLocks noChangeAspect="1"/>
          </p:cNvPicPr>
          <p:nvPr/>
        </p:nvPicPr>
        <p:blipFill>
          <a:blip r:embed="rId3"/>
          <a:stretch>
            <a:fillRect/>
          </a:stretch>
        </p:blipFill>
        <p:spPr>
          <a:xfrm>
            <a:off x="685800" y="2496312"/>
            <a:ext cx="219456" cy="219456"/>
          </a:xfrm>
          <a:prstGeom prst="rect">
            <a:avLst/>
          </a:prstGeom>
        </p:spPr>
      </p:pic>
      <p:sp>
        <p:nvSpPr>
          <p:cNvPr id="15" name="Recommendation 3"/>
          <p:cNvSpPr txBox="1"/>
          <p:nvPr/>
        </p:nvSpPr>
        <p:spPr>
          <a:xfrm>
            <a:off x="1170432" y="2286000"/>
            <a:ext cx="3200400" cy="640080"/>
          </a:xfrm>
          <a:prstGeom prst="rect">
            <a:avLst/>
          </a:prstGeom>
          <a:noFill/>
          <a:ln/>
        </p:spPr>
        <p:txBody>
          <a:bodyPr wrap="square" lIns="0" tIns="0" rIns="0" bIns="0" rtlCol="0" anchor="ctr"/>
          <a:lstStyle/>
          <a:p>
            <a:pPr indent="0" marL="0">
              <a:buNone/>
            </a:pPr>
            <a:r>
              <a:rPr lang="en-US" sz="1400" b="1" dirty="0">
                <a:solidFill>
                  <a:schemeClr val="tx2"/>
                </a:solidFill>
              </a:rPr>
              <a:t>Compare exam and non-exam occupancy patterns</a:t>
            </a:r>
            <a:endParaRPr lang="en-US" sz="1400" dirty="0"/>
          </a:p>
        </p:txBody>
      </p:sp>
      <p:sp>
        <p:nvSpPr>
          <p:cNvPr id="16" name="Recommendation card 4"/>
          <p:cNvSpPr/>
          <p:nvPr/>
        </p:nvSpPr>
        <p:spPr>
          <a:xfrm>
            <a:off x="4663440" y="2286000"/>
            <a:ext cx="4023360" cy="640080"/>
          </a:xfrm>
          <a:prstGeom prst="roundRect">
            <a:avLst>
              <a:gd name="adj" fmla="val 11429"/>
            </a:avLst>
          </a:prstGeom>
          <a:solidFill>
            <a:schemeClr val="bg2"/>
          </a:solidFill>
          <a:ln w="12700">
            <a:solidFill>
              <a:schemeClr val="bg2"/>
            </a:solidFill>
            <a:prstDash val="solid"/>
          </a:ln>
        </p:spPr>
      </p:sp>
      <p:sp>
        <p:nvSpPr>
          <p:cNvPr id="17" name="Recommendation icon 4 circle"/>
          <p:cNvSpPr/>
          <p:nvPr/>
        </p:nvSpPr>
        <p:spPr>
          <a:xfrm>
            <a:off x="4773168" y="2377440"/>
            <a:ext cx="457200" cy="457200"/>
          </a:xfrm>
          <a:prstGeom prst="ellipse">
            <a:avLst/>
          </a:prstGeom>
          <a:solidFill>
            <a:schemeClr val="accent2"/>
          </a:solidFill>
          <a:ln w="12700">
            <a:solidFill>
              <a:schemeClr val="accent2"/>
            </a:solidFill>
            <a:prstDash val="solid"/>
          </a:ln>
        </p:spPr>
      </p:sp>
      <p:pic>
        <p:nvPicPr>
          <p:cNvPr id="18" name="Image 3" descr="Recommendation icon 4">    </p:cNvPr>
          <p:cNvPicPr>
            <a:picLocks noChangeAspect="1"/>
          </p:cNvPicPr>
          <p:nvPr/>
        </p:nvPicPr>
        <p:blipFill>
          <a:blip r:embed="rId4"/>
          <a:stretch>
            <a:fillRect/>
          </a:stretch>
        </p:blipFill>
        <p:spPr>
          <a:xfrm>
            <a:off x="4892040" y="2496312"/>
            <a:ext cx="219456" cy="219456"/>
          </a:xfrm>
          <a:prstGeom prst="rect">
            <a:avLst/>
          </a:prstGeom>
        </p:spPr>
      </p:pic>
      <p:sp>
        <p:nvSpPr>
          <p:cNvPr id="19" name="Recommendation 4"/>
          <p:cNvSpPr txBox="1"/>
          <p:nvPr/>
        </p:nvSpPr>
        <p:spPr>
          <a:xfrm>
            <a:off x="5376672" y="2286000"/>
            <a:ext cx="3200400" cy="640080"/>
          </a:xfrm>
          <a:prstGeom prst="rect">
            <a:avLst/>
          </a:prstGeom>
          <a:noFill/>
          <a:ln/>
        </p:spPr>
        <p:txBody>
          <a:bodyPr wrap="square" lIns="0" tIns="0" rIns="0" bIns="0" rtlCol="0" anchor="ctr"/>
          <a:lstStyle/>
          <a:p>
            <a:pPr indent="0" marL="0">
              <a:buNone/>
            </a:pPr>
            <a:r>
              <a:rPr lang="en-US" sz="1400" b="1" dirty="0">
                <a:solidFill>
                  <a:schemeClr val="tx2"/>
                </a:solidFill>
              </a:rPr>
              <a:t>Prioritize facilities with recurring maintenance records</a:t>
            </a:r>
            <a:endParaRPr lang="en-US" sz="1400" dirty="0"/>
          </a:p>
        </p:txBody>
      </p:sp>
      <p:sp>
        <p:nvSpPr>
          <p:cNvPr id="20" name="Recommendation card 5"/>
          <p:cNvSpPr/>
          <p:nvPr/>
        </p:nvSpPr>
        <p:spPr>
          <a:xfrm>
            <a:off x="457200" y="3017520"/>
            <a:ext cx="4023360" cy="640080"/>
          </a:xfrm>
          <a:prstGeom prst="roundRect">
            <a:avLst>
              <a:gd name="adj" fmla="val 11429"/>
            </a:avLst>
          </a:prstGeom>
          <a:solidFill>
            <a:schemeClr val="bg2"/>
          </a:solidFill>
          <a:ln w="12700">
            <a:solidFill>
              <a:schemeClr val="bg2"/>
            </a:solidFill>
            <a:prstDash val="solid"/>
          </a:ln>
        </p:spPr>
      </p:sp>
      <p:sp>
        <p:nvSpPr>
          <p:cNvPr id="21" name="Recommendation icon 5 circle"/>
          <p:cNvSpPr/>
          <p:nvPr/>
        </p:nvSpPr>
        <p:spPr>
          <a:xfrm>
            <a:off x="566928" y="3108960"/>
            <a:ext cx="457200" cy="457200"/>
          </a:xfrm>
          <a:prstGeom prst="ellipse">
            <a:avLst/>
          </a:prstGeom>
          <a:solidFill>
            <a:schemeClr val="accent2"/>
          </a:solidFill>
          <a:ln w="12700">
            <a:solidFill>
              <a:schemeClr val="accent2"/>
            </a:solidFill>
            <a:prstDash val="solid"/>
          </a:ln>
        </p:spPr>
      </p:sp>
      <p:pic>
        <p:nvPicPr>
          <p:cNvPr id="22" name="Image 4" descr="Recommendation icon 5">    </p:cNvPr>
          <p:cNvPicPr>
            <a:picLocks noChangeAspect="1"/>
          </p:cNvPicPr>
          <p:nvPr/>
        </p:nvPicPr>
        <p:blipFill>
          <a:blip r:embed="rId5"/>
          <a:stretch>
            <a:fillRect/>
          </a:stretch>
        </p:blipFill>
        <p:spPr>
          <a:xfrm>
            <a:off x="685800" y="3227832"/>
            <a:ext cx="219456" cy="219456"/>
          </a:xfrm>
          <a:prstGeom prst="rect">
            <a:avLst/>
          </a:prstGeom>
        </p:spPr>
      </p:pic>
      <p:sp>
        <p:nvSpPr>
          <p:cNvPr id="23" name="Recommendation 5"/>
          <p:cNvSpPr txBox="1"/>
          <p:nvPr/>
        </p:nvSpPr>
        <p:spPr>
          <a:xfrm>
            <a:off x="1170432" y="3017520"/>
            <a:ext cx="3200400" cy="640080"/>
          </a:xfrm>
          <a:prstGeom prst="rect">
            <a:avLst/>
          </a:prstGeom>
          <a:noFill/>
          <a:ln/>
        </p:spPr>
        <p:txBody>
          <a:bodyPr wrap="square" lIns="0" tIns="0" rIns="0" bIns="0" rtlCol="0" anchor="ctr"/>
          <a:lstStyle/>
          <a:p>
            <a:pPr indent="0" marL="0">
              <a:buNone/>
            </a:pPr>
            <a:r>
              <a:rPr lang="en-US" sz="1400" b="1" dirty="0">
                <a:solidFill>
                  <a:schemeClr val="tx2"/>
                </a:solidFill>
              </a:rPr>
              <a:t>Monitor occupancy relative to capacity</a:t>
            </a:r>
            <a:endParaRPr lang="en-US" sz="1400" dirty="0"/>
          </a:p>
        </p:txBody>
      </p:sp>
      <p:sp>
        <p:nvSpPr>
          <p:cNvPr id="24" name="Recommendation card 6"/>
          <p:cNvSpPr/>
          <p:nvPr/>
        </p:nvSpPr>
        <p:spPr>
          <a:xfrm>
            <a:off x="4663440" y="3017520"/>
            <a:ext cx="4023360" cy="640080"/>
          </a:xfrm>
          <a:prstGeom prst="roundRect">
            <a:avLst>
              <a:gd name="adj" fmla="val 11429"/>
            </a:avLst>
          </a:prstGeom>
          <a:solidFill>
            <a:schemeClr val="bg2"/>
          </a:solidFill>
          <a:ln w="12700">
            <a:solidFill>
              <a:schemeClr val="bg2"/>
            </a:solidFill>
            <a:prstDash val="solid"/>
          </a:ln>
        </p:spPr>
      </p:sp>
      <p:sp>
        <p:nvSpPr>
          <p:cNvPr id="25" name="Recommendation icon 6 circle"/>
          <p:cNvSpPr/>
          <p:nvPr/>
        </p:nvSpPr>
        <p:spPr>
          <a:xfrm>
            <a:off x="4773168" y="3108960"/>
            <a:ext cx="457200" cy="457200"/>
          </a:xfrm>
          <a:prstGeom prst="ellipse">
            <a:avLst/>
          </a:prstGeom>
          <a:solidFill>
            <a:schemeClr val="accent2"/>
          </a:solidFill>
          <a:ln w="12700">
            <a:solidFill>
              <a:schemeClr val="accent2"/>
            </a:solidFill>
            <a:prstDash val="solid"/>
          </a:ln>
        </p:spPr>
      </p:sp>
      <p:pic>
        <p:nvPicPr>
          <p:cNvPr id="26" name="Image 5" descr="Recommendation icon 6">    </p:cNvPr>
          <p:cNvPicPr>
            <a:picLocks noChangeAspect="1"/>
          </p:cNvPicPr>
          <p:nvPr/>
        </p:nvPicPr>
        <p:blipFill>
          <a:blip r:embed="rId6"/>
          <a:stretch>
            <a:fillRect/>
          </a:stretch>
        </p:blipFill>
        <p:spPr>
          <a:xfrm>
            <a:off x="4892040" y="3227832"/>
            <a:ext cx="219456" cy="219456"/>
          </a:xfrm>
          <a:prstGeom prst="rect">
            <a:avLst/>
          </a:prstGeom>
        </p:spPr>
      </p:pic>
      <p:sp>
        <p:nvSpPr>
          <p:cNvPr id="27" name="Recommendation 6"/>
          <p:cNvSpPr txBox="1"/>
          <p:nvPr/>
        </p:nvSpPr>
        <p:spPr>
          <a:xfrm>
            <a:off x="5376672" y="3017520"/>
            <a:ext cx="3200400" cy="640080"/>
          </a:xfrm>
          <a:prstGeom prst="rect">
            <a:avLst/>
          </a:prstGeom>
          <a:noFill/>
          <a:ln/>
        </p:spPr>
        <p:txBody>
          <a:bodyPr wrap="square" lIns="0" tIns="0" rIns="0" bIns="0" rtlCol="0" anchor="ctr"/>
          <a:lstStyle/>
          <a:p>
            <a:pPr indent="0" marL="0">
              <a:buNone/>
            </a:pPr>
            <a:r>
              <a:rPr lang="en-US" sz="1400" b="1" dirty="0">
                <a:solidFill>
                  <a:schemeClr val="tx2"/>
                </a:solidFill>
              </a:rPr>
              <a:t>Collect reliable, continuous occupancy data</a:t>
            </a:r>
            <a:endParaRPr lang="en-US" sz="1400" dirty="0"/>
          </a:p>
        </p:txBody>
      </p:sp>
      <p:sp>
        <p:nvSpPr>
          <p:cNvPr id="28" name="Closing banner"/>
          <p:cNvSpPr/>
          <p:nvPr/>
        </p:nvSpPr>
        <p:spPr>
          <a:xfrm>
            <a:off x="457200" y="3840480"/>
            <a:ext cx="8229600" cy="731520"/>
          </a:xfrm>
          <a:prstGeom prst="roundRect">
            <a:avLst>
              <a:gd name="adj" fmla="val 10000"/>
            </a:avLst>
          </a:prstGeom>
          <a:solidFill>
            <a:schemeClr val="accent1"/>
          </a:solidFill>
          <a:ln w="12700">
            <a:solidFill>
              <a:schemeClr val="accent1"/>
            </a:solidFill>
            <a:prstDash val="solid"/>
          </a:ln>
        </p:spPr>
      </p:sp>
      <p:sp>
        <p:nvSpPr>
          <p:cNvPr id="29" name="Thank you"/>
          <p:cNvSpPr txBox="1"/>
          <p:nvPr/>
        </p:nvSpPr>
        <p:spPr>
          <a:xfrm>
            <a:off x="731520" y="3840480"/>
            <a:ext cx="4206240" cy="731520"/>
          </a:xfrm>
          <a:prstGeom prst="rect">
            <a:avLst/>
          </a:prstGeom>
          <a:noFill/>
          <a:ln/>
        </p:spPr>
        <p:txBody>
          <a:bodyPr wrap="square" lIns="0" tIns="0" rIns="0" bIns="0" rtlCol="0" anchor="ctr"/>
          <a:lstStyle/>
          <a:p>
            <a:pPr indent="0" marL="0">
              <a:buNone/>
            </a:pPr>
            <a:r>
              <a:rPr lang="en-US" sz="2600" b="1" dirty="0">
                <a:solidFill>
                  <a:schemeClr val="bg1"/>
                </a:solidFill>
              </a:rPr>
              <a:t>Thank You — Questions?</a:t>
            </a:r>
            <a:endParaRPr lang="en-US" sz="2600" dirty="0"/>
          </a:p>
        </p:txBody>
      </p:sp>
      <p:sp>
        <p:nvSpPr>
          <p:cNvPr id="30" name="Practical value"/>
          <p:cNvSpPr txBox="1"/>
          <p:nvPr/>
        </p:nvSpPr>
        <p:spPr>
          <a:xfrm>
            <a:off x="4937760" y="3840480"/>
            <a:ext cx="3474720" cy="731520"/>
          </a:xfrm>
          <a:prstGeom prst="rect">
            <a:avLst/>
          </a:prstGeom>
          <a:noFill/>
          <a:ln/>
        </p:spPr>
        <p:txBody>
          <a:bodyPr wrap="square" lIns="0" tIns="0" rIns="0" bIns="0" rtlCol="0" anchor="ctr"/>
          <a:lstStyle/>
          <a:p>
            <a:pPr algn="r" indent="0" marL="0">
              <a:buNone/>
            </a:pPr>
            <a:r>
              <a:rPr lang="en-US" sz="1400" dirty="0">
                <a:solidFill>
                  <a:schemeClr val="accent3"/>
                </a:solidFill>
              </a:rPr>
              <a:t>Data-driven campus facility management</a:t>
            </a:r>
            <a:endParaRPr lang="en-US" sz="1400" dirty="0"/>
          </a:p>
        </p:txBody>
      </p:sp>
      <p:sp>
        <p:nvSpPr>
          <p:cNvPr id="25" name="Slide Number Placeholder 0"/>
          <p:cNvSpPr>
            <a:spLocks noGrp="1"/>
          </p:cNvSpPr>
          <p:nvPr>
            <p:ph type="sldNum" sz="quarter" idx="4294967295"/>
          </p:nvPr>
        </p:nvSpPr>
        <p:spPr>
          <a:xfrm>
            <a:off x="8046720" y="4828032"/>
            <a:ext cx="6400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ampusInsight">
  <a:themeElements>
    <a:clrScheme name="CampusInsight">
      <a:dk1>
        <a:srgbClr val="16212E"/>
      </a:dk1>
      <a:lt1>
        <a:srgbClr val="FFFFFF"/>
      </a:lt1>
      <a:dk2>
        <a:srgbClr val="0B2545"/>
      </a:dk2>
      <a:lt2>
        <a:srgbClr val="EEF5FB"/>
      </a:lt2>
      <a:accent1>
        <a:srgbClr val="0B2545"/>
      </a:accent1>
      <a:accent2>
        <a:srgbClr val="0F8B8D"/>
      </a:accent2>
      <a:accent3>
        <a:srgbClr val="8FC1E3"/>
      </a:accent3>
      <a:accent4>
        <a:srgbClr val="DCEBF7"/>
      </a:accent4>
      <a:accent5>
        <a:srgbClr val="F2A93B"/>
      </a:accent5>
      <a:accent6>
        <a:srgbClr val="5B6B7C"/>
      </a:accent6>
      <a:hlink>
        <a:srgbClr val="0F8B8D"/>
      </a:hlink>
      <a:folHlink>
        <a:srgbClr val="5B6B7C"/>
      </a:folHlink>
    </a:clrScheme>
    <a:fontScheme name="CampusIns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Facility Insight</dc:title>
  <dc:subject>PptxGenJS Presentation</dc:subject>
  <dc:creator>Monikha K</dc:creator>
  <cp:lastModifiedBy>Monikha K</cp:lastModifiedBy>
  <cp:revision>1</cp:revision>
  <dcterms:created xsi:type="dcterms:W3CDTF">2026-10-12T10:24:46Z</dcterms:created>
  <dcterms:modified xsi:type="dcterms:W3CDTF">2026-10-12T10:24:46Z</dcterms:modified>
</cp:coreProperties>
</file>